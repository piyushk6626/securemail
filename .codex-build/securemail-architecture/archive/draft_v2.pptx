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0ffd09fa24e7e" /><Relationship Type="http://schemas.openxmlformats.org/officeDocument/2006/relationships/extended-properties" Target="/docProps/app.xml" Id="Ra556ca659dd94485" /><Relationship Type="http://schemas.openxmlformats.org/officeDocument/2006/relationships/officeDocument" Target="/ppt/presentation.xml" Id="R1b0d716bdf1146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a5d597f3684ca4"/>
  </p:sldMasterIdLst>
  <p:notesMasterIdLst>
    <p:notesMasterId xmlns:r="http://schemas.openxmlformats.org/officeDocument/2006/relationships" r:id="R3a35d4cee8a04266"/>
  </p:notesMasterIdLst>
  <p:sldIdLst>
    <p:sldId xmlns:r="http://schemas.openxmlformats.org/officeDocument/2006/relationships" id="256" r:id="R276e92604ec940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15ab7043574d50" /><Relationship Type="http://schemas.openxmlformats.org/officeDocument/2006/relationships/slideMaster" Target="/ppt/slideMasters/slideMaster1.xml" Id="R25a5d597f3684ca4" /><Relationship Type="http://schemas.openxmlformats.org/officeDocument/2006/relationships/notesMaster" Target="/ppt/notesMasters/notesMaster1.xml" Id="R3a35d4cee8a04266" /><Relationship Type="http://schemas.openxmlformats.org/officeDocument/2006/relationships/presProps" Target="/ppt/presProps.xml" Id="R98180bec4763455f" /><Relationship Type="http://schemas.openxmlformats.org/officeDocument/2006/relationships/tableStyles" Target="/ppt/tableStyles.xml" Id="R0d857f1d986a46e1" /><Relationship Type="http://schemas.openxmlformats.org/officeDocument/2006/relationships/slide" Target="/ppt/slides/slide1.xml" Id="R276e92604ec9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fadd942e24d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7c9ee467f4400" /><Relationship Type="http://schemas.openxmlformats.org/officeDocument/2006/relationships/notesMaster" Target="/ppt/notesMasters/notesMaster1.xml" Id="R97630c5ff5ab45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component and package view. Arrows show calls, dependencies, implementation, composition, or runtime lifecycle. They do not represent the capture-processing sequence.</a:t>
            </a:r>
          </a:p>
          <a:p xmlns:a="http://schemas.openxmlformats.org/drawingml/2006/main">
            <a:r>
              <a:t>Sources: docs/development/repository-map.md; docs/architecture/clean-architecture.md; docs/architecture/runtime-topology.md; docs/architecture/frontend-data-flow.md; src/securemail/bootstrap.py; src/securemail/worker.py.</a:t>
            </a:r>
          </a:p>
          <a:p xmlns:a="http://schemas.openxmlformats.org/drawingml/2006/main">
            <a:r>
              <a:t>Verified against the repository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ec69bbd02b49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20ef2729f4e90" /><Relationship Type="http://schemas.openxmlformats.org/officeDocument/2006/relationships/slideLayout" Target="/ppt/slideLayouts/slideLayout1.xml" Id="R727fd981c9134d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7fd981c9134d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6582308aa42b9" /><Relationship Type="http://schemas.openxmlformats.org/officeDocument/2006/relationships/notesSlide" Target="/ppt/notesSlides/notesSlide1.xml" Id="R22e3ccb40f5d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itle">
            <a:extLst xmlns:a="http://schemas.openxmlformats.org/drawingml/2006/main">
              <a:ext uri="{FF2B5EF4-FFF2-40B4-BE49-F238E27FC236}">
                <a16:creationId xmlns:a16="http://schemas.microsoft.com/office/drawing/2014/main" id="{3C905C9B-A4E2-4ED2-BADD-4F2CCAC1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SecureMail component 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61C7C6-65BE-4E06-B10B-7308BEAD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Current packages, runtime components and dependency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79CD0-6631-4081-8ED8-A201D85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" name="securemail-workstation">
            <a:extLst xmlns:a="http://schemas.openxmlformats.org/drawingml/2006/main">
              <a:ext uri="{FF2B5EF4-FFF2-40B4-BE49-F238E27FC236}">
                <a16:creationId xmlns:a16="http://schemas.microsoft.com/office/drawing/2014/main" id="{1D845688-ACA4-4A81-845D-005676B0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506730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9B8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ystem-label">
            <a:extLst xmlns:a="http://schemas.openxmlformats.org/drawingml/2006/main">
              <a:ext uri="{FF2B5EF4-FFF2-40B4-BE49-F238E27FC236}">
                <a16:creationId xmlns:a16="http://schemas.microsoft.com/office/drawing/2014/main" id="{D885EE6B-FF82-46F0-9619-C03203D9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SECUREMAIL WORKSTATION</a:t>
            </a:r>
          </a:p>
        </p:txBody>
      </p:sp>
      <p:sp>
        <p:nvSpPr>
          <p:cNvPr id="6" name="entry-group">
            <a:extLst xmlns:a="http://schemas.openxmlformats.org/drawingml/2006/main">
              <a:ext uri="{FF2B5EF4-FFF2-40B4-BE49-F238E27FC236}">
                <a16:creationId xmlns:a16="http://schemas.microsoft.com/office/drawing/2014/main" id="{0F46EA39-1B26-4C40-987E-67EB108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57450" cy="4400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9D5DF"/>
            </a:solidFill>
            <a:prstDash val="solid"/>
          </a:ln>
        </p:spPr>
      </p:sp>
      <p:sp>
        <p:nvSpPr>
          <p:cNvPr id="7" name="entry-group-accent">
            <a:extLst xmlns:a="http://schemas.openxmlformats.org/drawingml/2006/main">
              <a:ext uri="{FF2B5EF4-FFF2-40B4-BE49-F238E27FC236}">
                <a16:creationId xmlns:a16="http://schemas.microsoft.com/office/drawing/2014/main" id="{35775A9A-077B-49FD-AD24-DEC7F257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8" name="entry-group-label">
            <a:extLst xmlns:a="http://schemas.openxmlformats.org/drawingml/2006/main">
              <a:ext uri="{FF2B5EF4-FFF2-40B4-BE49-F238E27FC236}">
                <a16:creationId xmlns:a16="http://schemas.microsoft.com/office/drawing/2014/main" id="{2751CB9A-E6E4-4E2F-88BC-F4BF822C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rPr>
              <a:t>ENTRY POINTS</a:t>
            </a:r>
          </a:p>
        </p:txBody>
      </p:sp>
      <p:sp>
        <p:nvSpPr>
          <p:cNvPr id="9" name="core-group">
            <a:extLst xmlns:a="http://schemas.openxmlformats.org/drawingml/2006/main">
              <a:ext uri="{FF2B5EF4-FFF2-40B4-BE49-F238E27FC236}">
                <a16:creationId xmlns:a16="http://schemas.microsoft.com/office/drawing/2014/main" id="{0E133CB6-8D94-4FB7-8078-7A2869A2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4591050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CF8FC"/>
          </a:solidFill>
          <a:ln xmlns:a="http://schemas.openxmlformats.org/drawingml/2006/main" w="14288">
            <a:solidFill>
              <a:srgbClr val="8FD2E7"/>
            </a:solidFill>
            <a:prstDash val="solid"/>
          </a:ln>
        </p:spPr>
      </p:sp>
      <p:sp>
        <p:nvSpPr>
          <p:cNvPr id="10" name="core-group-accent">
            <a:extLst xmlns:a="http://schemas.openxmlformats.org/drawingml/2006/main">
              <a:ext uri="{FF2B5EF4-FFF2-40B4-BE49-F238E27FC236}">
                <a16:creationId xmlns:a16="http://schemas.microsoft.com/office/drawing/2014/main" id="{4CD0E3B7-1CF2-4371-AB20-29FF65E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11" name="core-group-label">
            <a:extLst xmlns:a="http://schemas.openxmlformats.org/drawingml/2006/main">
              <a:ext uri="{FF2B5EF4-FFF2-40B4-BE49-F238E27FC236}">
                <a16:creationId xmlns:a16="http://schemas.microsoft.com/office/drawing/2014/main" id="{15A44CAF-AFB6-4CE5-BFD1-26515F6B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rPr>
              <a:t>CORE LOGIC AND CONTRACTS</a:t>
            </a:r>
          </a:p>
        </p:txBody>
      </p:sp>
      <p:sp>
        <p:nvSpPr>
          <p:cNvPr id="12" name="infra-group">
            <a:extLst xmlns:a="http://schemas.openxmlformats.org/drawingml/2006/main">
              <a:ext uri="{FF2B5EF4-FFF2-40B4-BE49-F238E27FC236}">
                <a16:creationId xmlns:a16="http://schemas.microsoft.com/office/drawing/2014/main" id="{492F8741-DFDE-4B28-92EE-E8E84E4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429000" cy="440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3FC"/>
          </a:solidFill>
          <a:ln xmlns:a="http://schemas.openxmlformats.org/drawingml/2006/main" w="14288">
            <a:solidFill>
              <a:srgbClr val="CDBDEA"/>
            </a:solidFill>
            <a:prstDash val="solid"/>
          </a:ln>
        </p:spPr>
      </p:sp>
      <p:sp>
        <p:nvSpPr>
          <p:cNvPr id="13" name="infra-group-accent">
            <a:extLst xmlns:a="http://schemas.openxmlformats.org/drawingml/2006/main">
              <a:ext uri="{FF2B5EF4-FFF2-40B4-BE49-F238E27FC236}">
                <a16:creationId xmlns:a16="http://schemas.microsoft.com/office/drawing/2014/main" id="{8AB7B51A-3DF8-4841-8EE3-3DCBD7C1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14" name="infra-group-label">
            <a:extLst xmlns:a="http://schemas.openxmlformats.org/drawingml/2006/main">
              <a:ext uri="{FF2B5EF4-FFF2-40B4-BE49-F238E27FC236}">
                <a16:creationId xmlns:a16="http://schemas.microsoft.com/office/drawing/2014/main" id="{9DA2CE3E-4409-4486-B51C-75034021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ADAPTERS AND LOCAL RUNTIME</a:t>
            </a:r>
          </a:p>
        </p:txBody>
      </p:sp>
      <p:sp>
        <p:nvSpPr>
          <p:cNvPr id="15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5E955C67-38A5-4C62-9E41-59F17E28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8122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frontend-node-marker">
            <a:extLst xmlns:a="http://schemas.openxmlformats.org/drawingml/2006/main">
              <a:ext uri="{FF2B5EF4-FFF2-40B4-BE49-F238E27FC236}">
                <a16:creationId xmlns:a16="http://schemas.microsoft.com/office/drawing/2014/main" id="{6FA47B95-BF34-4D4C-866A-EE3A66DA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145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17" name="frontend-node-title">
            <a:extLst xmlns:a="http://schemas.openxmlformats.org/drawingml/2006/main">
              <a:ext uri="{FF2B5EF4-FFF2-40B4-BE49-F238E27FC236}">
                <a16:creationId xmlns:a16="http://schemas.microsoft.com/office/drawing/2014/main" id="{5A32A88B-9FCB-4A3F-9382-0DED217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764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frontend/</a:t>
            </a:r>
          </a:p>
        </p:txBody>
      </p:sp>
      <p:sp>
        <p:nvSpPr>
          <p:cNvPr id="18" name="frontend-node-description">
            <a:extLst xmlns:a="http://schemas.openxmlformats.org/drawingml/2006/main">
              <a:ext uri="{FF2B5EF4-FFF2-40B4-BE49-F238E27FC236}">
                <a16:creationId xmlns:a16="http://schemas.microsoft.com/office/drawing/2014/main" id="{8CBECF5A-14B6-461D-8AA6-4829B6E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43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React dashboard</a:t>
            </a:r>
          </a:p>
        </p:txBody>
      </p:sp>
      <p:sp>
        <p:nvSpPr>
          <p:cNvPr id="19" name="api-node">
            <a:extLst xmlns:a="http://schemas.openxmlformats.org/drawingml/2006/main">
              <a:ext uri="{FF2B5EF4-FFF2-40B4-BE49-F238E27FC236}">
                <a16:creationId xmlns:a16="http://schemas.microsoft.com/office/drawing/2014/main" id="{A2C57764-C017-4CDA-B00D-9A891246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95650"/>
            <a:ext cx="2057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pi-node-marker">
            <a:extLst xmlns:a="http://schemas.openxmlformats.org/drawingml/2006/main">
              <a:ext uri="{FF2B5EF4-FFF2-40B4-BE49-F238E27FC236}">
                <a16:creationId xmlns:a16="http://schemas.microsoft.com/office/drawing/2014/main" id="{DA4F5C81-65CF-4B0A-8F25-C663A1C6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290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1" name="api-node-title">
            <a:extLst xmlns:a="http://schemas.openxmlformats.org/drawingml/2006/main">
              <a:ext uri="{FF2B5EF4-FFF2-40B4-BE49-F238E27FC236}">
                <a16:creationId xmlns:a16="http://schemas.microsoft.com/office/drawing/2014/main" id="{9829FFCC-03DE-45B6-BAD6-B5EA0346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api/</a:t>
            </a:r>
          </a:p>
        </p:txBody>
      </p:sp>
      <p:sp>
        <p:nvSpPr>
          <p:cNvPr id="22" name="api-node-description">
            <a:extLst xmlns:a="http://schemas.openxmlformats.org/drawingml/2006/main">
              <a:ext uri="{FF2B5EF4-FFF2-40B4-BE49-F238E27FC236}">
                <a16:creationId xmlns:a16="http://schemas.microsoft.com/office/drawing/2014/main" id="{869BAD26-7145-41AC-973B-EA2DA48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57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Typer CLI and FastAPI routers</a:t>
            </a:r>
          </a:p>
        </p:txBody>
      </p:sp>
      <p:sp>
        <p:nvSpPr>
          <p:cNvPr id="23" name="worker-node">
            <a:extLst xmlns:a="http://schemas.openxmlformats.org/drawingml/2006/main">
              <a:ext uri="{FF2B5EF4-FFF2-40B4-BE49-F238E27FC236}">
                <a16:creationId xmlns:a16="http://schemas.microsoft.com/office/drawing/2014/main" id="{AC26AE15-157F-41F3-A200-4ACD23AA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2917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worker-node-marker">
            <a:extLst xmlns:a="http://schemas.openxmlformats.org/drawingml/2006/main">
              <a:ext uri="{FF2B5EF4-FFF2-40B4-BE49-F238E27FC236}">
                <a16:creationId xmlns:a16="http://schemas.microsoft.com/office/drawing/2014/main" id="{E90F4BEA-F892-4AE8-A675-6834A0E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6252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5" name="worker-node-title">
            <a:extLst xmlns:a="http://schemas.openxmlformats.org/drawingml/2006/main">
              <a:ext uri="{FF2B5EF4-FFF2-40B4-BE49-F238E27FC236}">
                <a16:creationId xmlns:a16="http://schemas.microsoft.com/office/drawing/2014/main" id="{4C2482DD-B264-4982-9778-A629B5C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worker.py</a:t>
            </a:r>
          </a:p>
        </p:txBody>
      </p:sp>
      <p:sp>
        <p:nvSpPr>
          <p:cNvPr id="26" name="worker-node-description">
            <a:extLst xmlns:a="http://schemas.openxmlformats.org/drawingml/2006/main">
              <a:ext uri="{FF2B5EF4-FFF2-40B4-BE49-F238E27FC236}">
                <a16:creationId xmlns:a16="http://schemas.microsoft.com/office/drawing/2014/main" id="{80D2FDC1-2802-453C-B694-180660F2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911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Local job processor</a:t>
            </a:r>
          </a:p>
        </p:txBody>
      </p:sp>
      <p:sp>
        <p:nvSpPr>
          <p:cNvPr id="27" name="bootstrap-node">
            <a:extLst xmlns:a="http://schemas.openxmlformats.org/drawingml/2006/main">
              <a:ext uri="{FF2B5EF4-FFF2-40B4-BE49-F238E27FC236}">
                <a16:creationId xmlns:a16="http://schemas.microsoft.com/office/drawing/2014/main" id="{A4BBF93F-6AB2-49C6-8023-C1C73DE9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133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8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bootstrap-node-marker">
            <a:extLst xmlns:a="http://schemas.openxmlformats.org/drawingml/2006/main">
              <a:ext uri="{FF2B5EF4-FFF2-40B4-BE49-F238E27FC236}">
                <a16:creationId xmlns:a16="http://schemas.microsoft.com/office/drawing/2014/main" id="{666B78D1-F6AF-40BA-A142-BEAF1388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B72"/>
          </a:solidFill>
          <a:ln xmlns:a="http://schemas.openxmlformats.org/drawingml/2006/main" w="0">
            <a:solidFill>
              <a:srgbClr val="2D8B72"/>
            </a:solidFill>
            <a:prstDash val="solid"/>
          </a:ln>
        </p:spPr>
      </p:sp>
      <p:sp>
        <p:nvSpPr>
          <p:cNvPr id="29" name="bootstrap-node-title">
            <a:extLst xmlns:a="http://schemas.openxmlformats.org/drawingml/2006/main">
              <a:ext uri="{FF2B5EF4-FFF2-40B4-BE49-F238E27FC236}">
                <a16:creationId xmlns:a16="http://schemas.microsoft.com/office/drawing/2014/main" id="{D98AD7C4-CB96-406C-8308-1CAFF44F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bootstrap.py</a:t>
            </a:r>
          </a:p>
        </p:txBody>
      </p:sp>
      <p:sp>
        <p:nvSpPr>
          <p:cNvPr id="30" name="bootstrap-node-description">
            <a:extLst xmlns:a="http://schemas.openxmlformats.org/drawingml/2006/main">
              <a:ext uri="{FF2B5EF4-FFF2-40B4-BE49-F238E27FC236}">
                <a16:creationId xmlns:a16="http://schemas.microsoft.com/office/drawing/2014/main" id="{3AD27F78-F9B8-4D46-AB35-0423C571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Composition root</a:t>
            </a:r>
          </a:p>
        </p:txBody>
      </p:sp>
      <p:sp>
        <p:nvSpPr>
          <p:cNvPr id="31" name="application-node">
            <a:extLst xmlns:a="http://schemas.openxmlformats.org/drawingml/2006/main">
              <a:ext uri="{FF2B5EF4-FFF2-40B4-BE49-F238E27FC236}">
                <a16:creationId xmlns:a16="http://schemas.microsoft.com/office/drawing/2014/main" id="{CAD1DB23-2459-4FB7-9111-5799A93A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1847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application-node-marker">
            <a:extLst xmlns:a="http://schemas.openxmlformats.org/drawingml/2006/main">
              <a:ext uri="{FF2B5EF4-FFF2-40B4-BE49-F238E27FC236}">
                <a16:creationId xmlns:a16="http://schemas.microsoft.com/office/drawing/2014/main" id="{CD7F0B05-06DD-481D-B6DC-B63323F0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3" name="application-node-title">
            <a:extLst xmlns:a="http://schemas.openxmlformats.org/drawingml/2006/main">
              <a:ext uri="{FF2B5EF4-FFF2-40B4-BE49-F238E27FC236}">
                <a16:creationId xmlns:a16="http://schemas.microsoft.com/office/drawing/2014/main" id="{E1CE37FE-FAD6-4618-8B70-A63231C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application/</a:t>
            </a:r>
          </a:p>
        </p:txBody>
      </p:sp>
      <p:sp>
        <p:nvSpPr>
          <p:cNvPr id="34" name="application-node-description">
            <a:extLst xmlns:a="http://schemas.openxmlformats.org/drawingml/2006/main">
              <a:ext uri="{FF2B5EF4-FFF2-40B4-BE49-F238E27FC236}">
                <a16:creationId xmlns:a16="http://schemas.microsoft.com/office/drawing/2014/main" id="{383F62AC-4CBA-41D6-95F4-58095A4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 cases and normalization</a:t>
            </a:r>
          </a:p>
        </p:txBody>
      </p:sp>
      <p:sp>
        <p:nvSpPr>
          <p:cNvPr id="35" name="domain-node">
            <a:extLst xmlns:a="http://schemas.openxmlformats.org/drawingml/2006/main">
              <a:ext uri="{FF2B5EF4-FFF2-40B4-BE49-F238E27FC236}">
                <a16:creationId xmlns:a16="http://schemas.microsoft.com/office/drawing/2014/main" id="{85C03A8C-E4FF-42DF-A715-09F8DCCA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981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domain-node-marker">
            <a:extLst xmlns:a="http://schemas.openxmlformats.org/drawingml/2006/main">
              <a:ext uri="{FF2B5EF4-FFF2-40B4-BE49-F238E27FC236}">
                <a16:creationId xmlns:a16="http://schemas.microsoft.com/office/drawing/2014/main" id="{F731B18B-0D95-4535-9CD0-1F439A83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7" name="domain-node-title">
            <a:extLst xmlns:a="http://schemas.openxmlformats.org/drawingml/2006/main">
              <a:ext uri="{FF2B5EF4-FFF2-40B4-BE49-F238E27FC236}">
                <a16:creationId xmlns:a16="http://schemas.microsoft.com/office/drawing/2014/main" id="{8A019931-7C07-418A-9D02-0E710482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domain/</a:t>
            </a:r>
          </a:p>
        </p:txBody>
      </p:sp>
      <p:sp>
        <p:nvSpPr>
          <p:cNvPr id="38" name="domain-node-description">
            <a:extLst xmlns:a="http://schemas.openxmlformats.org/drawingml/2006/main">
              <a:ext uri="{FF2B5EF4-FFF2-40B4-BE49-F238E27FC236}">
                <a16:creationId xmlns:a16="http://schemas.microsoft.com/office/drawing/2014/main" id="{3EEC985E-28EA-4B89-9479-9E1F3E7D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19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Evidence models, policy, scoring, report schemas, jobs and ML</a:t>
            </a:r>
          </a:p>
        </p:txBody>
      </p:sp>
      <p:sp>
        <p:nvSpPr>
          <p:cNvPr id="39" name="ports-node">
            <a:extLst xmlns:a="http://schemas.openxmlformats.org/drawingml/2006/main">
              <a:ext uri="{FF2B5EF4-FFF2-40B4-BE49-F238E27FC236}">
                <a16:creationId xmlns:a16="http://schemas.microsoft.com/office/drawing/2014/main" id="{A76A6CED-8CE9-4432-81B1-7DAEBA25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62525"/>
            <a:ext cx="1981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ports-node-marker">
            <a:extLst xmlns:a="http://schemas.openxmlformats.org/drawingml/2006/main">
              <a:ext uri="{FF2B5EF4-FFF2-40B4-BE49-F238E27FC236}">
                <a16:creationId xmlns:a16="http://schemas.microsoft.com/office/drawing/2014/main" id="{5A4EA267-04B5-4C6A-8B72-2072FE11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1" name="ports-node-title">
            <a:extLst xmlns:a="http://schemas.openxmlformats.org/drawingml/2006/main">
              <a:ext uri="{FF2B5EF4-FFF2-40B4-BE49-F238E27FC236}">
                <a16:creationId xmlns:a16="http://schemas.microsoft.com/office/drawing/2014/main" id="{686DDC80-4805-419A-A8CE-8780794D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57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ports/</a:t>
            </a:r>
          </a:p>
        </p:txBody>
      </p:sp>
      <p:sp>
        <p:nvSpPr>
          <p:cNvPr id="42" name="ports-node-description">
            <a:extLst xmlns:a="http://schemas.openxmlformats.org/drawingml/2006/main">
              <a:ext uri="{FF2B5EF4-FFF2-40B4-BE49-F238E27FC236}">
                <a16:creationId xmlns:a16="http://schemas.microsoft.com/office/drawing/2014/main" id="{90AFF521-B028-4F5F-B333-91035535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244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Analyzer, storage, report and ML contracts</a:t>
            </a:r>
          </a:p>
        </p:txBody>
      </p:sp>
      <p:sp>
        <p:nvSpPr>
          <p:cNvPr id="43" name="adapters-node">
            <a:extLst xmlns:a="http://schemas.openxmlformats.org/drawingml/2006/main">
              <a:ext uri="{FF2B5EF4-FFF2-40B4-BE49-F238E27FC236}">
                <a16:creationId xmlns:a16="http://schemas.microsoft.com/office/drawing/2014/main" id="{ADDE0EA3-F1E8-448B-8B8C-519D3983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adapters-node-marker">
            <a:extLst xmlns:a="http://schemas.openxmlformats.org/drawingml/2006/main">
              <a:ext uri="{FF2B5EF4-FFF2-40B4-BE49-F238E27FC236}">
                <a16:creationId xmlns:a16="http://schemas.microsoft.com/office/drawing/2014/main" id="{6EA8AFEB-3DA5-45E9-BC04-1896C687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5715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5" name="adapters-node-title">
            <a:extLst xmlns:a="http://schemas.openxmlformats.org/drawingml/2006/main">
              <a:ext uri="{FF2B5EF4-FFF2-40B4-BE49-F238E27FC236}">
                <a16:creationId xmlns:a16="http://schemas.microsoft.com/office/drawing/2014/main" id="{25134A8D-3B67-4C5F-9E3D-5B59D8F5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479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adapters/</a:t>
            </a:r>
          </a:p>
        </p:txBody>
      </p:sp>
      <p:sp>
        <p:nvSpPr>
          <p:cNvPr id="46" name="adapt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C8BF5D49-C7EE-4F87-8C2F-A2173C84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 runners, filesystem persistence, reporting, PKI and reference data, advisory ML</a:t>
            </a:r>
          </a:p>
        </p:txBody>
      </p:sp>
      <p:sp>
        <p:nvSpPr>
          <p:cNvPr id="47" name="analyzers-node">
            <a:extLst xmlns:a="http://schemas.openxmlformats.org/drawingml/2006/main">
              <a:ext uri="{FF2B5EF4-FFF2-40B4-BE49-F238E27FC236}">
                <a16:creationId xmlns:a16="http://schemas.microsoft.com/office/drawing/2014/main" id="{48753F55-8115-4DF3-9DFA-6962FBFD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analyzers-node-marker">
            <a:extLst xmlns:a="http://schemas.openxmlformats.org/drawingml/2006/main">
              <a:ext uri="{FF2B5EF4-FFF2-40B4-BE49-F238E27FC236}">
                <a16:creationId xmlns:a16="http://schemas.microsoft.com/office/drawing/2014/main" id="{3E2020BA-4B47-4B37-849E-C9E646C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9" name="analyzers-node-title">
            <a:extLst xmlns:a="http://schemas.openxmlformats.org/drawingml/2006/main">
              <a:ext uri="{FF2B5EF4-FFF2-40B4-BE49-F238E27FC236}">
                <a16:creationId xmlns:a16="http://schemas.microsoft.com/office/drawing/2014/main" id="{3CF19F31-B8AB-4454-99EF-BF42AA88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Zeek + TShark</a:t>
            </a:r>
          </a:p>
        </p:txBody>
      </p:sp>
      <p:sp>
        <p:nvSpPr>
          <p:cNvPr id="50" name="analyz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B00AC329-C84F-4DE2-9450-B5D0D637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Offline Docker analyzers</a:t>
            </a:r>
          </a:p>
        </p:txBody>
      </p:sp>
      <p:sp>
        <p:nvSpPr>
          <p:cNvPr id="51" name="filesystem-node">
            <a:extLst xmlns:a="http://schemas.openxmlformats.org/drawingml/2006/main">
              <a:ext uri="{FF2B5EF4-FFF2-40B4-BE49-F238E27FC236}">
                <a16:creationId xmlns:a16="http://schemas.microsoft.com/office/drawing/2014/main" id="{0FCC273A-4B81-4967-BA86-FB74D97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filesystem-node-marker">
            <a:extLst xmlns:a="http://schemas.openxmlformats.org/drawingml/2006/main">
              <a:ext uri="{FF2B5EF4-FFF2-40B4-BE49-F238E27FC236}">
                <a16:creationId xmlns:a16="http://schemas.microsoft.com/office/drawing/2014/main" id="{84F6CF60-54AB-4F91-AF81-7C0B62C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53" name="filesystem-node-title">
            <a:extLst xmlns:a="http://schemas.openxmlformats.org/drawingml/2006/main">
              <a:ext uri="{FF2B5EF4-FFF2-40B4-BE49-F238E27FC236}">
                <a16:creationId xmlns:a16="http://schemas.microsoft.com/office/drawing/2014/main" id="{E5314EFD-4FFF-4257-A994-DDA7640D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Local filesystem</a:t>
            </a:r>
          </a:p>
        </p:txBody>
      </p:sp>
      <p:sp>
        <p:nvSpPr>
          <p:cNvPr id="54" name="filesystem-node-description">
            <a:extLst xmlns:a="http://schemas.openxmlformats.org/drawingml/2006/main">
              <a:ext uri="{FF2B5EF4-FFF2-40B4-BE49-F238E27FC236}">
                <a16:creationId xmlns:a16="http://schemas.microsoft.com/office/drawing/2014/main" id="{C813A6F1-8CEE-4E3F-8B45-3358D9B0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Jobs, catalog, artifacts and ML history</a:t>
            </a:r>
          </a:p>
        </p:txBody>
      </p:sp>
      <p:cxnSp>
        <p:nvCxnSpPr>
          <p:cNvPr id="141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95475" y="29051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895475" y="41719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F91A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924175" y="3733800"/>
            <a:ext cx="61912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23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924175" y="3829050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391150" y="3829050"/>
            <a:ext cx="3048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31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467225" y="4286250"/>
            <a:ext cx="1228725" cy="1066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3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7677150" y="2828925"/>
            <a:ext cx="6572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27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924175" y="2486025"/>
            <a:ext cx="619125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4467225" y="2819400"/>
            <a:ext cx="11430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2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677150" y="2486025"/>
            <a:ext cx="6572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9024938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43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810750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7" name="label-http-bg">
            <a:extLst xmlns:a="http://schemas.openxmlformats.org/drawingml/2006/main">
              <a:ext uri="{FF2B5EF4-FFF2-40B4-BE49-F238E27FC236}">
                <a16:creationId xmlns:a16="http://schemas.microsoft.com/office/drawing/2014/main" id="{448D6414-6CFA-40B5-B658-16CD8FE5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68" name="label-http">
            <a:extLst xmlns:a="http://schemas.openxmlformats.org/drawingml/2006/main">
              <a:ext uri="{FF2B5EF4-FFF2-40B4-BE49-F238E27FC236}">
                <a16:creationId xmlns:a16="http://schemas.microsoft.com/office/drawing/2014/main" id="{927DC3F2-C9E4-442B-976F-3DF0F877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HTTP API</a:t>
            </a:r>
          </a:p>
        </p:txBody>
      </p:sp>
      <p:sp>
        <p:nvSpPr>
          <p:cNvPr id="69" name="label-spawns-bg">
            <a:extLst xmlns:a="http://schemas.openxmlformats.org/drawingml/2006/main">
              <a:ext uri="{FF2B5EF4-FFF2-40B4-BE49-F238E27FC236}">
                <a16:creationId xmlns:a16="http://schemas.microsoft.com/office/drawing/2014/main" id="{F5CE229C-E8D0-4A5F-A8ED-EFDFF5C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0" name="label-spawns">
            <a:extLst xmlns:a="http://schemas.openxmlformats.org/drawingml/2006/main">
              <a:ext uri="{FF2B5EF4-FFF2-40B4-BE49-F238E27FC236}">
                <a16:creationId xmlns:a16="http://schemas.microsoft.com/office/drawing/2014/main" id="{7070992A-3476-4A49-814E-578C405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spawns</a:t>
            </a:r>
          </a:p>
        </p:txBody>
      </p:sp>
      <p:sp>
        <p:nvSpPr>
          <p:cNvPr id="71" name="label-api-calls-bg">
            <a:extLst xmlns:a="http://schemas.openxmlformats.org/drawingml/2006/main">
              <a:ext uri="{FF2B5EF4-FFF2-40B4-BE49-F238E27FC236}">
                <a16:creationId xmlns:a16="http://schemas.microsoft.com/office/drawing/2014/main" id="{93DBC4B0-FBC8-44C1-ABC6-37EC99C6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2" name="label-api-calls">
            <a:extLst xmlns:a="http://schemas.openxmlformats.org/drawingml/2006/main">
              <a:ext uri="{FF2B5EF4-FFF2-40B4-BE49-F238E27FC236}">
                <a16:creationId xmlns:a16="http://schemas.microsoft.com/office/drawing/2014/main" id="{6AE4536F-9B2C-4008-9A43-3D676F4C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3" name="label-worker-calls-bg">
            <a:extLst xmlns:a="http://schemas.openxmlformats.org/drawingml/2006/main">
              <a:ext uri="{FF2B5EF4-FFF2-40B4-BE49-F238E27FC236}">
                <a16:creationId xmlns:a16="http://schemas.microsoft.com/office/drawing/2014/main" id="{7C354CCC-E8C0-47F8-9695-9508CFAC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4" name="label-worker-calls">
            <a:extLst xmlns:a="http://schemas.openxmlformats.org/drawingml/2006/main">
              <a:ext uri="{FF2B5EF4-FFF2-40B4-BE49-F238E27FC236}">
                <a16:creationId xmlns:a16="http://schemas.microsoft.com/office/drawing/2014/main" id="{2D71FC7D-904A-4751-9AD4-75055520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5" name="label-uses-bg">
            <a:extLst xmlns:a="http://schemas.openxmlformats.org/drawingml/2006/main">
              <a:ext uri="{FF2B5EF4-FFF2-40B4-BE49-F238E27FC236}">
                <a16:creationId xmlns:a16="http://schemas.microsoft.com/office/drawing/2014/main" id="{596B20E6-C21E-4615-B200-B09BDD34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38550"/>
            <a:ext cx="3619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6" name="label-uses">
            <a:extLst xmlns:a="http://schemas.openxmlformats.org/drawingml/2006/main">
              <a:ext uri="{FF2B5EF4-FFF2-40B4-BE49-F238E27FC236}">
                <a16:creationId xmlns:a16="http://schemas.microsoft.com/office/drawing/2014/main" id="{0F6745E5-B47E-4B6D-B93A-D2B23C94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38550"/>
            <a:ext cx="36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uses</a:t>
            </a:r>
          </a:p>
        </p:txBody>
      </p:sp>
      <p:sp>
        <p:nvSpPr>
          <p:cNvPr id="77" name="label-depends-bg">
            <a:extLst xmlns:a="http://schemas.openxmlformats.org/drawingml/2006/main">
              <a:ext uri="{FF2B5EF4-FFF2-40B4-BE49-F238E27FC236}">
                <a16:creationId xmlns:a16="http://schemas.microsoft.com/office/drawing/2014/main" id="{4FFEBC8D-810F-4E7F-8A4B-D0FA6D05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8" name="label-depends">
            <a:extLst xmlns:a="http://schemas.openxmlformats.org/drawingml/2006/main">
              <a:ext uri="{FF2B5EF4-FFF2-40B4-BE49-F238E27FC236}">
                <a16:creationId xmlns:a16="http://schemas.microsoft.com/office/drawing/2014/main" id="{10D5839B-5FD1-414F-A218-587DAC66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depends on</a:t>
            </a:r>
          </a:p>
        </p:txBody>
      </p:sp>
      <p:sp>
        <p:nvSpPr>
          <p:cNvPr id="79" name="label-implements-bg">
            <a:extLst xmlns:a="http://schemas.openxmlformats.org/drawingml/2006/main">
              <a:ext uri="{FF2B5EF4-FFF2-40B4-BE49-F238E27FC236}">
                <a16:creationId xmlns:a16="http://schemas.microsoft.com/office/drawing/2014/main" id="{7E4CD8C2-188D-43C9-860A-2FD8CC9C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43425"/>
            <a:ext cx="7239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0" name="label-implements">
            <a:extLst xmlns:a="http://schemas.openxmlformats.org/drawingml/2006/main">
              <a:ext uri="{FF2B5EF4-FFF2-40B4-BE49-F238E27FC236}">
                <a16:creationId xmlns:a16="http://schemas.microsoft.com/office/drawing/2014/main" id="{F9592B57-B0EA-4A4C-90EF-326AA972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43425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98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implements</a:t>
            </a:r>
          </a:p>
        </p:txBody>
      </p:sp>
      <p:sp>
        <p:nvSpPr>
          <p:cNvPr id="81" name="label-wires-bg">
            <a:extLst xmlns:a="http://schemas.openxmlformats.org/drawingml/2006/main">
              <a:ext uri="{FF2B5EF4-FFF2-40B4-BE49-F238E27FC236}">
                <a16:creationId xmlns:a16="http://schemas.microsoft.com/office/drawing/2014/main" id="{D2BF743E-0B8D-499C-9C8C-5E8AD3E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2" name="label-wires">
            <a:extLst xmlns:a="http://schemas.openxmlformats.org/drawingml/2006/main">
              <a:ext uri="{FF2B5EF4-FFF2-40B4-BE49-F238E27FC236}">
                <a16:creationId xmlns:a16="http://schemas.microsoft.com/office/drawing/2014/main" id="{C6FE021D-B7EE-47EE-8AD7-97B0A7FF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rPr>
              <a:t>wires</a:t>
            </a:r>
          </a:p>
        </p:txBody>
      </p:sp>
      <p:sp>
        <p:nvSpPr>
          <p:cNvPr id="83" name="label-launches-bg">
            <a:extLst xmlns:a="http://schemas.openxmlformats.org/drawingml/2006/main">
              <a:ext uri="{FF2B5EF4-FFF2-40B4-BE49-F238E27FC236}">
                <a16:creationId xmlns:a16="http://schemas.microsoft.com/office/drawing/2014/main" id="{7150CC2C-3D2F-468A-85BC-941AE506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4" name="label-launches">
            <a:extLst xmlns:a="http://schemas.openxmlformats.org/drawingml/2006/main">
              <a:ext uri="{FF2B5EF4-FFF2-40B4-BE49-F238E27FC236}">
                <a16:creationId xmlns:a16="http://schemas.microsoft.com/office/drawing/2014/main" id="{CE356B36-B176-4FE8-97B4-E56FEC64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launches</a:t>
            </a:r>
          </a:p>
        </p:txBody>
      </p:sp>
      <p:sp>
        <p:nvSpPr>
          <p:cNvPr id="85" name="label-storage-bg">
            <a:extLst xmlns:a="http://schemas.openxmlformats.org/drawingml/2006/main">
              <a:ext uri="{FF2B5EF4-FFF2-40B4-BE49-F238E27FC236}">
                <a16:creationId xmlns:a16="http://schemas.microsoft.com/office/drawing/2014/main" id="{C3DE42AC-9D28-46E5-AC27-D806E580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6" name="label-storage">
            <a:extLst xmlns:a="http://schemas.openxmlformats.org/drawingml/2006/main">
              <a:ext uri="{FF2B5EF4-FFF2-40B4-BE49-F238E27FC236}">
                <a16:creationId xmlns:a16="http://schemas.microsoft.com/office/drawing/2014/main" id="{AFC4F59D-5066-4514-B9E3-34D16CED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reads and writes</a:t>
            </a:r>
          </a:p>
        </p:txBody>
      </p:sp>
    </p:spTree>
    <p:extLst>
      <p:ext uri="{BB962C8B-B14F-4D97-AF65-F5344CB8AC3E}">
        <p14:creationId xmlns:p14="http://schemas.microsoft.com/office/powerpoint/2010/main" val="156045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2026-09-07T06:37:00.0890000Z</dcterms:created>
  <dcterms:modified xsi:type="dcterms:W3CDTF">2026-09-07T06:37:00.0890000Z</dcterms:modified>
</coreProperties>
</file>