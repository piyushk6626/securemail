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44316e23f3400d" /><Relationship Type="http://schemas.openxmlformats.org/officeDocument/2006/relationships/extended-properties" Target="/docProps/app.xml" Id="Rf9e84e4842074544" /><Relationship Type="http://schemas.openxmlformats.org/officeDocument/2006/relationships/officeDocument" Target="/ppt/presentation.xml" Id="Re301173a300d45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2a400a770f4d2a"/>
  </p:sldMasterIdLst>
  <p:notesMasterIdLst>
    <p:notesMasterId xmlns:r="http://schemas.openxmlformats.org/officeDocument/2006/relationships" r:id="R1c27bef232ef4b12"/>
  </p:notesMasterIdLst>
  <p:sldIdLst>
    <p:sldId xmlns:r="http://schemas.openxmlformats.org/officeDocument/2006/relationships" id="256" r:id="Rf2c1f465419747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79a55e5c514304" /><Relationship Type="http://schemas.openxmlformats.org/officeDocument/2006/relationships/slideMaster" Target="/ppt/slideMasters/slideMaster1.xml" Id="Rcc2a400a770f4d2a" /><Relationship Type="http://schemas.openxmlformats.org/officeDocument/2006/relationships/notesMaster" Target="/ppt/notesMasters/notesMaster1.xml" Id="R1c27bef232ef4b12" /><Relationship Type="http://schemas.openxmlformats.org/officeDocument/2006/relationships/presProps" Target="/ppt/presProps.xml" Id="R85812343e94140ef" /><Relationship Type="http://schemas.openxmlformats.org/officeDocument/2006/relationships/tableStyles" Target="/ppt/tableStyles.xml" Id="R9871074277444cd7" /><Relationship Type="http://schemas.openxmlformats.org/officeDocument/2006/relationships/slide" Target="/ppt/slides/slide1.xml" Id="Rf2c1f465419747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923c29f7748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7606d6506b4495" /><Relationship Type="http://schemas.openxmlformats.org/officeDocument/2006/relationships/notesMaster" Target="/ppt/notesMasters/notesMaster1.xml" Id="R7f53d52567874e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component and package view. Arrows show calls, dependencies, implementation, composition, or runtime lifecycle. They do not represent the capture-processing sequence.</a:t>
            </a:r>
          </a:p>
          <a:p xmlns:a="http://schemas.openxmlformats.org/drawingml/2006/main">
            <a:r>
              <a:t>Sources: docs/development/repository-map.md; docs/architecture/clean-architecture.md; docs/architecture/runtime-topology.md; docs/architecture/frontend-data-flow.md; src/securemail/bootstrap.py; src/securemail/worker.py.</a:t>
            </a:r>
          </a:p>
          <a:p xmlns:a="http://schemas.openxmlformats.org/drawingml/2006/main">
            <a:r>
              <a:t>Verified against the repository on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0db0cc6874d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ffe5df223947b3" /><Relationship Type="http://schemas.openxmlformats.org/officeDocument/2006/relationships/slideLayout" Target="/ppt/slideLayouts/slideLayout1.xml" Id="R50c6d15f281a4c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c6d15f281a4c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8ab2543b84b1b" /><Relationship Type="http://schemas.openxmlformats.org/officeDocument/2006/relationships/notesSlide" Target="/ppt/notesSlides/notesSlide1.xml" Id="R1764e998822240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title">
            <a:extLst xmlns:a="http://schemas.openxmlformats.org/drawingml/2006/main">
              <a:ext uri="{FF2B5EF4-FFF2-40B4-BE49-F238E27FC236}">
                <a16:creationId xmlns:a16="http://schemas.microsoft.com/office/drawing/2014/main" id="{A0AE2D6A-77F9-49D7-91A0-7EF675DF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31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SecureMail component architecture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CFB8C7-DC48-4387-B9AD-EC11248F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Current packages, runtime components and dependency boundaries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E5DB560-5877-4750-831C-402D3DC8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4" name="securemail-workstation">
            <a:extLst xmlns:a="http://schemas.openxmlformats.org/drawingml/2006/main">
              <a:ext uri="{FF2B5EF4-FFF2-40B4-BE49-F238E27FC236}">
                <a16:creationId xmlns:a16="http://schemas.microsoft.com/office/drawing/2014/main" id="{5B07D33C-1EB6-41F1-9ECC-4366D7DA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5067300"/>
          </a:xfrm>
          <a:prstGeom xmlns:a="http://schemas.openxmlformats.org/drawingml/2006/main" prst="roundRect">
            <a:avLst>
              <a:gd name="adj" fmla="val 3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9B8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ystem-label">
            <a:extLst xmlns:a="http://schemas.openxmlformats.org/drawingml/2006/main">
              <a:ext uri="{FF2B5EF4-FFF2-40B4-BE49-F238E27FC236}">
                <a16:creationId xmlns:a16="http://schemas.microsoft.com/office/drawing/2014/main" id="{5F886F50-E7D5-4D2C-81C3-3AC3E1B0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30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SECUREMAIL WORKSTATION</a:t>
            </a:r>
          </a:p>
        </p:txBody>
      </p:sp>
      <p:sp>
        <p:nvSpPr>
          <p:cNvPr id="6" name="entry-group">
            <a:extLst xmlns:a="http://schemas.openxmlformats.org/drawingml/2006/main">
              <a:ext uri="{FF2B5EF4-FFF2-40B4-BE49-F238E27FC236}">
                <a16:creationId xmlns:a16="http://schemas.microsoft.com/office/drawing/2014/main" id="{00EF3BFD-38AF-4E05-B7F9-9D63A065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457450" cy="4400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9D5DF"/>
            </a:solidFill>
            <a:prstDash val="solid"/>
          </a:ln>
        </p:spPr>
      </p:sp>
      <p:sp>
        <p:nvSpPr>
          <p:cNvPr id="7" name="entry-group-accent">
            <a:extLst xmlns:a="http://schemas.openxmlformats.org/drawingml/2006/main">
              <a:ext uri="{FF2B5EF4-FFF2-40B4-BE49-F238E27FC236}">
                <a16:creationId xmlns:a16="http://schemas.microsoft.com/office/drawing/2014/main" id="{B7E6F706-6A0D-4841-A989-0E5FBEAF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8" name="entry-group-label">
            <a:extLst xmlns:a="http://schemas.openxmlformats.org/drawingml/2006/main">
              <a:ext uri="{FF2B5EF4-FFF2-40B4-BE49-F238E27FC236}">
                <a16:creationId xmlns:a16="http://schemas.microsoft.com/office/drawing/2014/main" id="{730ED4E8-5FA0-433A-B9EB-490B77A6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758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59758C"/>
                </a:solidFill>
                <a:latin typeface="IBM Plex Sans"/>
                <a:ea typeface="IBM Plex Sans"/>
                <a:cs typeface="IBM Plex Sans"/>
              </a:rPr>
              <a:t>ENTRY POINTS</a:t>
            </a:r>
          </a:p>
        </p:txBody>
      </p:sp>
      <p:sp>
        <p:nvSpPr>
          <p:cNvPr id="9" name="core-group">
            <a:extLst xmlns:a="http://schemas.openxmlformats.org/drawingml/2006/main">
              <a:ext uri="{FF2B5EF4-FFF2-40B4-BE49-F238E27FC236}">
                <a16:creationId xmlns:a16="http://schemas.microsoft.com/office/drawing/2014/main" id="{8B8B7337-A23A-4750-87A9-F6ED4D82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57350"/>
            <a:ext cx="4591050" cy="44005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CF8FC"/>
          </a:solidFill>
          <a:ln xmlns:a="http://schemas.openxmlformats.org/drawingml/2006/main" w="14288">
            <a:solidFill>
              <a:srgbClr val="8FD2E7"/>
            </a:solidFill>
            <a:prstDash val="solid"/>
          </a:ln>
        </p:spPr>
      </p:sp>
      <p:sp>
        <p:nvSpPr>
          <p:cNvPr id="10" name="core-group-accent">
            <a:extLst xmlns:a="http://schemas.openxmlformats.org/drawingml/2006/main">
              <a:ext uri="{FF2B5EF4-FFF2-40B4-BE49-F238E27FC236}">
                <a16:creationId xmlns:a16="http://schemas.microsoft.com/office/drawing/2014/main" id="{FEB7E0FA-DAC0-4FDB-A1D6-A57F0C58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11" name="core-group-label">
            <a:extLst xmlns:a="http://schemas.openxmlformats.org/drawingml/2006/main">
              <a:ext uri="{FF2B5EF4-FFF2-40B4-BE49-F238E27FC236}">
                <a16:creationId xmlns:a16="http://schemas.microsoft.com/office/drawing/2014/main" id="{31A5D83B-78A7-4171-8207-FEC0B0D5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BB3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138BB3"/>
                </a:solidFill>
                <a:latin typeface="IBM Plex Sans"/>
                <a:ea typeface="IBM Plex Sans"/>
                <a:cs typeface="IBM Plex Sans"/>
              </a:rPr>
              <a:t>CORE LOGIC AND CONTRACTS</a:t>
            </a:r>
          </a:p>
        </p:txBody>
      </p:sp>
      <p:sp>
        <p:nvSpPr>
          <p:cNvPr id="12" name="infra-group">
            <a:extLst xmlns:a="http://schemas.openxmlformats.org/drawingml/2006/main">
              <a:ext uri="{FF2B5EF4-FFF2-40B4-BE49-F238E27FC236}">
                <a16:creationId xmlns:a16="http://schemas.microsoft.com/office/drawing/2014/main" id="{E79C4F7E-E81F-49E8-94A0-AE332019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429000" cy="440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3FC"/>
          </a:solidFill>
          <a:ln xmlns:a="http://schemas.openxmlformats.org/drawingml/2006/main" w="14288">
            <a:solidFill>
              <a:srgbClr val="CDBDEA"/>
            </a:solidFill>
            <a:prstDash val="solid"/>
          </a:ln>
        </p:spPr>
      </p:sp>
      <p:sp>
        <p:nvSpPr>
          <p:cNvPr id="13" name="infra-group-accent">
            <a:extLst xmlns:a="http://schemas.openxmlformats.org/drawingml/2006/main">
              <a:ext uri="{FF2B5EF4-FFF2-40B4-BE49-F238E27FC236}">
                <a16:creationId xmlns:a16="http://schemas.microsoft.com/office/drawing/2014/main" id="{4A418AE1-A4EF-42B1-9257-BDB23614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14" name="infra-group-label">
            <a:extLst xmlns:a="http://schemas.openxmlformats.org/drawingml/2006/main">
              <a:ext uri="{FF2B5EF4-FFF2-40B4-BE49-F238E27FC236}">
                <a16:creationId xmlns:a16="http://schemas.microsoft.com/office/drawing/2014/main" id="{7854B69E-3A06-4A09-8AAB-4B0624AB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ADAPTERS AND LOCAL RUNTIME</a:t>
            </a:r>
          </a:p>
        </p:txBody>
      </p:sp>
      <p:sp>
        <p:nvSpPr>
          <p:cNvPr id="15" name="frontend-node">
            <a:extLst xmlns:a="http://schemas.openxmlformats.org/drawingml/2006/main">
              <a:ext uri="{FF2B5EF4-FFF2-40B4-BE49-F238E27FC236}">
                <a16:creationId xmlns:a16="http://schemas.microsoft.com/office/drawing/2014/main" id="{F8C2C3FC-BB57-4528-960D-F1D0D6D1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81225"/>
            <a:ext cx="2057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frontend-node-marker">
            <a:extLst xmlns:a="http://schemas.openxmlformats.org/drawingml/2006/main">
              <a:ext uri="{FF2B5EF4-FFF2-40B4-BE49-F238E27FC236}">
                <a16:creationId xmlns:a16="http://schemas.microsoft.com/office/drawing/2014/main" id="{10DF7C31-3AF0-4D94-9A6D-BE6E9927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1457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17" name="frontend-node-title">
            <a:extLst xmlns:a="http://schemas.openxmlformats.org/drawingml/2006/main">
              <a:ext uri="{FF2B5EF4-FFF2-40B4-BE49-F238E27FC236}">
                <a16:creationId xmlns:a16="http://schemas.microsoft.com/office/drawing/2014/main" id="{BB5B43E5-5460-448D-8FD3-C37FD1EF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764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frontend/</a:t>
            </a:r>
          </a:p>
        </p:txBody>
      </p:sp>
      <p:sp>
        <p:nvSpPr>
          <p:cNvPr id="18" name="frontend-node-description">
            <a:extLst xmlns:a="http://schemas.openxmlformats.org/drawingml/2006/main">
              <a:ext uri="{FF2B5EF4-FFF2-40B4-BE49-F238E27FC236}">
                <a16:creationId xmlns:a16="http://schemas.microsoft.com/office/drawing/2014/main" id="{6E266F46-F0EF-4663-92C0-BF239D7E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431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React dashboard</a:t>
            </a:r>
          </a:p>
        </p:txBody>
      </p:sp>
      <p:sp>
        <p:nvSpPr>
          <p:cNvPr id="19" name="api-node">
            <a:extLst xmlns:a="http://schemas.openxmlformats.org/drawingml/2006/main">
              <a:ext uri="{FF2B5EF4-FFF2-40B4-BE49-F238E27FC236}">
                <a16:creationId xmlns:a16="http://schemas.microsoft.com/office/drawing/2014/main" id="{403584D2-38C5-4131-A1C4-30A7CDE9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95650"/>
            <a:ext cx="2057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api-node-marker">
            <a:extLst xmlns:a="http://schemas.openxmlformats.org/drawingml/2006/main">
              <a:ext uri="{FF2B5EF4-FFF2-40B4-BE49-F238E27FC236}">
                <a16:creationId xmlns:a16="http://schemas.microsoft.com/office/drawing/2014/main" id="{A01575B5-3D1F-43D8-A155-30C9386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29000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21" name="api-node-title">
            <a:extLst xmlns:a="http://schemas.openxmlformats.org/drawingml/2006/main">
              <a:ext uri="{FF2B5EF4-FFF2-40B4-BE49-F238E27FC236}">
                <a16:creationId xmlns:a16="http://schemas.microsoft.com/office/drawing/2014/main" id="{4DE34270-E698-44E2-BEA4-8E8549FB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9090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api/</a:t>
            </a:r>
          </a:p>
        </p:txBody>
      </p:sp>
      <p:sp>
        <p:nvSpPr>
          <p:cNvPr id="22" name="api-node-description">
            <a:extLst xmlns:a="http://schemas.openxmlformats.org/drawingml/2006/main">
              <a:ext uri="{FF2B5EF4-FFF2-40B4-BE49-F238E27FC236}">
                <a16:creationId xmlns:a16="http://schemas.microsoft.com/office/drawing/2014/main" id="{B0CC902B-54A8-4891-9D9C-38655653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576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Typer CLI and FastAPI routers</a:t>
            </a:r>
          </a:p>
        </p:txBody>
      </p:sp>
      <p:sp>
        <p:nvSpPr>
          <p:cNvPr id="23" name="worker-node">
            <a:extLst xmlns:a="http://schemas.openxmlformats.org/drawingml/2006/main">
              <a:ext uri="{FF2B5EF4-FFF2-40B4-BE49-F238E27FC236}">
                <a16:creationId xmlns:a16="http://schemas.microsoft.com/office/drawing/2014/main" id="{358F8CAF-2679-46E4-A5B8-5B4FC28D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29175"/>
            <a:ext cx="2057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worker-node-marker">
            <a:extLst xmlns:a="http://schemas.openxmlformats.org/drawingml/2006/main">
              <a:ext uri="{FF2B5EF4-FFF2-40B4-BE49-F238E27FC236}">
                <a16:creationId xmlns:a16="http://schemas.microsoft.com/office/drawing/2014/main" id="{42B678D7-DCA3-4169-A94E-E2CB2A3E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6252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25" name="worker-node-title">
            <a:extLst xmlns:a="http://schemas.openxmlformats.org/drawingml/2006/main">
              <a:ext uri="{FF2B5EF4-FFF2-40B4-BE49-F238E27FC236}">
                <a16:creationId xmlns:a16="http://schemas.microsoft.com/office/drawing/2014/main" id="{5CC837D7-1A7C-4EC3-AAF6-B590C933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worker.py</a:t>
            </a:r>
          </a:p>
        </p:txBody>
      </p:sp>
      <p:sp>
        <p:nvSpPr>
          <p:cNvPr id="26" name="worker-node-description">
            <a:extLst xmlns:a="http://schemas.openxmlformats.org/drawingml/2006/main">
              <a:ext uri="{FF2B5EF4-FFF2-40B4-BE49-F238E27FC236}">
                <a16:creationId xmlns:a16="http://schemas.microsoft.com/office/drawing/2014/main" id="{371D2E65-AB39-4F95-9F21-4648409E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911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Local job processor</a:t>
            </a:r>
          </a:p>
        </p:txBody>
      </p:sp>
      <p:sp>
        <p:nvSpPr>
          <p:cNvPr id="27" name="bootstrap-node">
            <a:extLst xmlns:a="http://schemas.openxmlformats.org/drawingml/2006/main">
              <a:ext uri="{FF2B5EF4-FFF2-40B4-BE49-F238E27FC236}">
                <a16:creationId xmlns:a16="http://schemas.microsoft.com/office/drawing/2014/main" id="{83B6FCDD-7910-4739-809F-FC0A6190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4133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8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bootstrap-node-marker">
            <a:extLst xmlns:a="http://schemas.openxmlformats.org/drawingml/2006/main">
              <a:ext uri="{FF2B5EF4-FFF2-40B4-BE49-F238E27FC236}">
                <a16:creationId xmlns:a16="http://schemas.microsoft.com/office/drawing/2014/main" id="{73D2B0D0-D5C4-432C-B173-0FF54B2A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86000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B72"/>
          </a:solidFill>
          <a:ln xmlns:a="http://schemas.openxmlformats.org/drawingml/2006/main" w="0">
            <a:solidFill>
              <a:srgbClr val="2D8B72"/>
            </a:solidFill>
            <a:prstDash val="solid"/>
          </a:ln>
        </p:spPr>
      </p:sp>
      <p:sp>
        <p:nvSpPr>
          <p:cNvPr id="29" name="bootstrap-node-title">
            <a:extLst xmlns:a="http://schemas.openxmlformats.org/drawingml/2006/main">
              <a:ext uri="{FF2B5EF4-FFF2-40B4-BE49-F238E27FC236}">
                <a16:creationId xmlns:a16="http://schemas.microsoft.com/office/drawing/2014/main" id="{16EF5D39-8F97-48E4-9D6F-D376EA31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4790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bootstrap.py</a:t>
            </a:r>
          </a:p>
        </p:txBody>
      </p:sp>
      <p:sp>
        <p:nvSpPr>
          <p:cNvPr id="30" name="bootstrap-node-description">
            <a:extLst xmlns:a="http://schemas.openxmlformats.org/drawingml/2006/main">
              <a:ext uri="{FF2B5EF4-FFF2-40B4-BE49-F238E27FC236}">
                <a16:creationId xmlns:a16="http://schemas.microsoft.com/office/drawing/2014/main" id="{9A607D92-C4E3-49F5-94CA-CD439624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146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Composition root</a:t>
            </a:r>
          </a:p>
        </p:txBody>
      </p:sp>
      <p:sp>
        <p:nvSpPr>
          <p:cNvPr id="31" name="application-node">
            <a:extLst xmlns:a="http://schemas.openxmlformats.org/drawingml/2006/main">
              <a:ext uri="{FF2B5EF4-FFF2-40B4-BE49-F238E27FC236}">
                <a16:creationId xmlns:a16="http://schemas.microsoft.com/office/drawing/2014/main" id="{6BCD48E4-CE54-4391-AD51-B4FB704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71850"/>
            <a:ext cx="18478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application-node-marker">
            <a:extLst xmlns:a="http://schemas.openxmlformats.org/drawingml/2006/main">
              <a:ext uri="{FF2B5EF4-FFF2-40B4-BE49-F238E27FC236}">
                <a16:creationId xmlns:a16="http://schemas.microsoft.com/office/drawing/2014/main" id="{3E0B3491-F6FD-4203-B9F5-FBCFA573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33" name="application-node-title">
            <a:extLst xmlns:a="http://schemas.openxmlformats.org/drawingml/2006/main">
              <a:ext uri="{FF2B5EF4-FFF2-40B4-BE49-F238E27FC236}">
                <a16:creationId xmlns:a16="http://schemas.microsoft.com/office/drawing/2014/main" id="{B37C36BE-36AC-4E42-849C-6997CD6B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application/</a:t>
            </a:r>
          </a:p>
        </p:txBody>
      </p:sp>
      <p:sp>
        <p:nvSpPr>
          <p:cNvPr id="34" name="application-node-description">
            <a:extLst xmlns:a="http://schemas.openxmlformats.org/drawingml/2006/main">
              <a:ext uri="{FF2B5EF4-FFF2-40B4-BE49-F238E27FC236}">
                <a16:creationId xmlns:a16="http://schemas.microsoft.com/office/drawing/2014/main" id="{F1E161C8-E7FC-4874-80E8-CD7C0A24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Use cases and normalization</a:t>
            </a:r>
          </a:p>
        </p:txBody>
      </p:sp>
      <p:sp>
        <p:nvSpPr>
          <p:cNvPr id="35" name="domain-node">
            <a:extLst xmlns:a="http://schemas.openxmlformats.org/drawingml/2006/main">
              <a:ext uri="{FF2B5EF4-FFF2-40B4-BE49-F238E27FC236}">
                <a16:creationId xmlns:a16="http://schemas.microsoft.com/office/drawing/2014/main" id="{2665B450-8966-4BF5-A9C6-0B0E1F8B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981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domain-node-marker">
            <a:extLst xmlns:a="http://schemas.openxmlformats.org/drawingml/2006/main">
              <a:ext uri="{FF2B5EF4-FFF2-40B4-BE49-F238E27FC236}">
                <a16:creationId xmlns:a16="http://schemas.microsoft.com/office/drawing/2014/main" id="{D604DD8C-2CAA-478E-BBBD-70D51AB1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571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37" name="domain-node-title">
            <a:extLst xmlns:a="http://schemas.openxmlformats.org/drawingml/2006/main">
              <a:ext uri="{FF2B5EF4-FFF2-40B4-BE49-F238E27FC236}">
                <a16:creationId xmlns:a16="http://schemas.microsoft.com/office/drawing/2014/main" id="{FC7C3FFC-A972-453D-91C5-F769374A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52800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domain/</a:t>
            </a:r>
          </a:p>
        </p:txBody>
      </p:sp>
      <p:sp>
        <p:nvSpPr>
          <p:cNvPr id="38" name="domain-node-description">
            <a:extLst xmlns:a="http://schemas.openxmlformats.org/drawingml/2006/main">
              <a:ext uri="{FF2B5EF4-FFF2-40B4-BE49-F238E27FC236}">
                <a16:creationId xmlns:a16="http://schemas.microsoft.com/office/drawing/2014/main" id="{0BAEE80C-35DD-4981-B46C-88CD68E9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19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Evidence models, policy, scoring, report schemas, jobs and ML</a:t>
            </a:r>
          </a:p>
        </p:txBody>
      </p:sp>
      <p:sp>
        <p:nvSpPr>
          <p:cNvPr id="39" name="ports-node">
            <a:extLst xmlns:a="http://schemas.openxmlformats.org/drawingml/2006/main">
              <a:ext uri="{FF2B5EF4-FFF2-40B4-BE49-F238E27FC236}">
                <a16:creationId xmlns:a16="http://schemas.microsoft.com/office/drawing/2014/main" id="{8ABEDA0E-4281-4862-BDCB-FF04E83C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62525"/>
            <a:ext cx="1981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ports-node-marker">
            <a:extLst xmlns:a="http://schemas.openxmlformats.org/drawingml/2006/main">
              <a:ext uri="{FF2B5EF4-FFF2-40B4-BE49-F238E27FC236}">
                <a16:creationId xmlns:a16="http://schemas.microsoft.com/office/drawing/2014/main" id="{D715B048-3643-4897-828A-2B2203D6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41" name="ports-node-title">
            <a:extLst xmlns:a="http://schemas.openxmlformats.org/drawingml/2006/main">
              <a:ext uri="{FF2B5EF4-FFF2-40B4-BE49-F238E27FC236}">
                <a16:creationId xmlns:a16="http://schemas.microsoft.com/office/drawing/2014/main" id="{638D75EE-A91C-4FED-93FE-FC905076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577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ports/</a:t>
            </a:r>
          </a:p>
        </p:txBody>
      </p:sp>
      <p:sp>
        <p:nvSpPr>
          <p:cNvPr id="42" name="ports-node-description">
            <a:extLst xmlns:a="http://schemas.openxmlformats.org/drawingml/2006/main">
              <a:ext uri="{FF2B5EF4-FFF2-40B4-BE49-F238E27FC236}">
                <a16:creationId xmlns:a16="http://schemas.microsoft.com/office/drawing/2014/main" id="{4964367D-4C1D-4D0C-9002-65085197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244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Analyzer, storage, report and ML contracts</a:t>
            </a:r>
          </a:p>
        </p:txBody>
      </p:sp>
      <p:sp>
        <p:nvSpPr>
          <p:cNvPr id="43" name="adapters-node">
            <a:extLst xmlns:a="http://schemas.openxmlformats.org/drawingml/2006/main">
              <a:ext uri="{FF2B5EF4-FFF2-40B4-BE49-F238E27FC236}">
                <a16:creationId xmlns:a16="http://schemas.microsoft.com/office/drawing/2014/main" id="{1BA18CD9-16B9-4801-844E-9850DEFF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52650"/>
            <a:ext cx="2952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adapters-node-marker">
            <a:extLst xmlns:a="http://schemas.openxmlformats.org/drawingml/2006/main">
              <a:ext uri="{FF2B5EF4-FFF2-40B4-BE49-F238E27FC236}">
                <a16:creationId xmlns:a16="http://schemas.microsoft.com/office/drawing/2014/main" id="{BD1E93A0-A391-4371-8221-C0019236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86000"/>
            <a:ext cx="57150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45" name="adapters-node-title">
            <a:extLst xmlns:a="http://schemas.openxmlformats.org/drawingml/2006/main">
              <a:ext uri="{FF2B5EF4-FFF2-40B4-BE49-F238E27FC236}">
                <a16:creationId xmlns:a16="http://schemas.microsoft.com/office/drawing/2014/main" id="{237DB888-C234-4D7E-A5DD-1D628CB7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479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adapters/</a:t>
            </a:r>
          </a:p>
        </p:txBody>
      </p:sp>
      <p:sp>
        <p:nvSpPr>
          <p:cNvPr id="46" name="adapters-node-description">
            <a:extLst xmlns:a="http://schemas.openxmlformats.org/drawingml/2006/main">
              <a:ext uri="{FF2B5EF4-FFF2-40B4-BE49-F238E27FC236}">
                <a16:creationId xmlns:a16="http://schemas.microsoft.com/office/drawing/2014/main" id="{6B4B81D0-28AD-4D6A-9FB9-45D48664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146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Analyzer runners, filesystem persistence, reporting, PKI and reference data, advisory ML</a:t>
            </a:r>
          </a:p>
        </p:txBody>
      </p:sp>
      <p:sp>
        <p:nvSpPr>
          <p:cNvPr id="47" name="analyzers-node">
            <a:extLst xmlns:a="http://schemas.openxmlformats.org/drawingml/2006/main">
              <a:ext uri="{FF2B5EF4-FFF2-40B4-BE49-F238E27FC236}">
                <a16:creationId xmlns:a16="http://schemas.microsoft.com/office/drawing/2014/main" id="{FC1B3D9B-AA2C-41B3-A65E-44E53E3E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86250"/>
            <a:ext cx="1381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analyzers-node-marker">
            <a:extLst xmlns:a="http://schemas.openxmlformats.org/drawingml/2006/main">
              <a:ext uri="{FF2B5EF4-FFF2-40B4-BE49-F238E27FC236}">
                <a16:creationId xmlns:a16="http://schemas.microsoft.com/office/drawing/2014/main" id="{F4684FF7-9451-4162-8FDE-3E5FA319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196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49" name="analyzers-node-title">
            <a:extLst xmlns:a="http://schemas.openxmlformats.org/drawingml/2006/main">
              <a:ext uri="{FF2B5EF4-FFF2-40B4-BE49-F238E27FC236}">
                <a16:creationId xmlns:a16="http://schemas.microsoft.com/office/drawing/2014/main" id="{C2969525-8D2D-4109-9344-6CAAFD3E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8150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8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Zeek + TShark</a:t>
            </a:r>
          </a:p>
        </p:txBody>
      </p:sp>
      <p:sp>
        <p:nvSpPr>
          <p:cNvPr id="50" name="analyzers-node-description">
            <a:extLst xmlns:a="http://schemas.openxmlformats.org/drawingml/2006/main">
              <a:ext uri="{FF2B5EF4-FFF2-40B4-BE49-F238E27FC236}">
                <a16:creationId xmlns:a16="http://schemas.microsoft.com/office/drawing/2014/main" id="{0340AC8C-0257-4C27-97CB-2C04FE07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6482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Offline Docker analyzers</a:t>
            </a:r>
          </a:p>
        </p:txBody>
      </p:sp>
      <p:sp>
        <p:nvSpPr>
          <p:cNvPr id="51" name="filesystem-node">
            <a:extLst xmlns:a="http://schemas.openxmlformats.org/drawingml/2006/main">
              <a:ext uri="{FF2B5EF4-FFF2-40B4-BE49-F238E27FC236}">
                <a16:creationId xmlns:a16="http://schemas.microsoft.com/office/drawing/2014/main" id="{360433DD-F33E-4E0C-B0C4-5277E46A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1381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filesystem-node-marker">
            <a:extLst xmlns:a="http://schemas.openxmlformats.org/drawingml/2006/main">
              <a:ext uri="{FF2B5EF4-FFF2-40B4-BE49-F238E27FC236}">
                <a16:creationId xmlns:a16="http://schemas.microsoft.com/office/drawing/2014/main" id="{523BB8A9-610E-42E6-A16D-681DECA9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196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53" name="filesystem-node-title">
            <a:extLst xmlns:a="http://schemas.openxmlformats.org/drawingml/2006/main">
              <a:ext uri="{FF2B5EF4-FFF2-40B4-BE49-F238E27FC236}">
                <a16:creationId xmlns:a16="http://schemas.microsoft.com/office/drawing/2014/main" id="{E6FAF7D0-2EC9-406E-ABD5-18D529D8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8150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5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Local filesystem</a:t>
            </a:r>
          </a:p>
        </p:txBody>
      </p:sp>
      <p:sp>
        <p:nvSpPr>
          <p:cNvPr id="54" name="filesystem-node-description">
            <a:extLst xmlns:a="http://schemas.openxmlformats.org/drawingml/2006/main">
              <a:ext uri="{FF2B5EF4-FFF2-40B4-BE49-F238E27FC236}">
                <a16:creationId xmlns:a16="http://schemas.microsoft.com/office/drawing/2014/main" id="{ECF0C1A7-30C9-4E85-AB39-D6218587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6482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Jobs, catalog, artifacts and ML history</a:t>
            </a:r>
          </a:p>
        </p:txBody>
      </p:sp>
      <p:cxnSp>
        <p:nvCxnSpPr>
          <p:cNvPr id="141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895475" y="290512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895475" y="417195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F91A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1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924175" y="3733800"/>
            <a:ext cx="619125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23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924175" y="3829050"/>
            <a:ext cx="619125" cy="1362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391150" y="3829050"/>
            <a:ext cx="3048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31" idx="2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4467225" y="4286250"/>
            <a:ext cx="1228725" cy="10668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43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7677150" y="2828925"/>
            <a:ext cx="657225" cy="2524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8" name=""/>
          <p:cNvCxnSpPr>
            <a:stCxn xmlns:a="http://schemas.openxmlformats.org/drawingml/2006/main" id="27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2924175" y="2486025"/>
            <a:ext cx="619125" cy="1247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49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4467225" y="2819400"/>
            <a:ext cx="11430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50" name=""/>
          <p:cNvCxnSpPr>
            <a:stCxn xmlns:a="http://schemas.openxmlformats.org/drawingml/2006/main" id="27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7677150" y="2486025"/>
            <a:ext cx="6572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51" name=""/>
          <p:cNvCxnSpPr>
            <a:stCxn xmlns:a="http://schemas.openxmlformats.org/drawingml/2006/main" id="43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 flipH="1">
            <a:off x="9024938" y="3505200"/>
            <a:ext cx="78581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2" name=""/>
          <p:cNvCxnSpPr>
            <a:stCxn xmlns:a="http://schemas.openxmlformats.org/drawingml/2006/main" id="43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9810750" y="3505200"/>
            <a:ext cx="78581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7" name="label-http-bg">
            <a:extLst xmlns:a="http://schemas.openxmlformats.org/drawingml/2006/main">
              <a:ext uri="{FF2B5EF4-FFF2-40B4-BE49-F238E27FC236}">
                <a16:creationId xmlns:a16="http://schemas.microsoft.com/office/drawing/2014/main" id="{A1A57310-9030-448A-AAA8-1B5D8205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52750"/>
            <a:ext cx="6858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68" name="label-http">
            <a:extLst xmlns:a="http://schemas.openxmlformats.org/drawingml/2006/main">
              <a:ext uri="{FF2B5EF4-FFF2-40B4-BE49-F238E27FC236}">
                <a16:creationId xmlns:a16="http://schemas.microsoft.com/office/drawing/2014/main" id="{5C93CFE0-B3D2-487F-A2B9-3B30AA87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52750"/>
            <a:ext cx="685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HTTP API</a:t>
            </a:r>
          </a:p>
        </p:txBody>
      </p:sp>
      <p:sp>
        <p:nvSpPr>
          <p:cNvPr id="69" name="label-spawns-bg">
            <a:extLst xmlns:a="http://schemas.openxmlformats.org/drawingml/2006/main">
              <a:ext uri="{FF2B5EF4-FFF2-40B4-BE49-F238E27FC236}">
                <a16:creationId xmlns:a16="http://schemas.microsoft.com/office/drawing/2014/main" id="{393AFA73-5DC7-4675-9606-A4A26E83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91025"/>
            <a:ext cx="6286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0" name="label-spawns">
            <a:extLst xmlns:a="http://schemas.openxmlformats.org/drawingml/2006/main">
              <a:ext uri="{FF2B5EF4-FFF2-40B4-BE49-F238E27FC236}">
                <a16:creationId xmlns:a16="http://schemas.microsoft.com/office/drawing/2014/main" id="{C7EE5316-CF39-4BFB-B073-F3BBCBBC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91025"/>
            <a:ext cx="628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spawns</a:t>
            </a:r>
          </a:p>
        </p:txBody>
      </p:sp>
      <p:sp>
        <p:nvSpPr>
          <p:cNvPr id="71" name="label-api-calls-bg">
            <a:extLst xmlns:a="http://schemas.openxmlformats.org/drawingml/2006/main">
              <a:ext uri="{FF2B5EF4-FFF2-40B4-BE49-F238E27FC236}">
                <a16:creationId xmlns:a16="http://schemas.microsoft.com/office/drawing/2014/main" id="{A7F717BD-08E5-4E44-B161-71A8CE18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33775"/>
            <a:ext cx="4953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2" name="label-api-calls">
            <a:extLst xmlns:a="http://schemas.openxmlformats.org/drawingml/2006/main">
              <a:ext uri="{FF2B5EF4-FFF2-40B4-BE49-F238E27FC236}">
                <a16:creationId xmlns:a16="http://schemas.microsoft.com/office/drawing/2014/main" id="{4345C3EB-5C64-46EC-AF26-C9133E50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33775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calls</a:t>
            </a:r>
          </a:p>
        </p:txBody>
      </p:sp>
      <p:sp>
        <p:nvSpPr>
          <p:cNvPr id="73" name="label-worker-calls-bg">
            <a:extLst xmlns:a="http://schemas.openxmlformats.org/drawingml/2006/main">
              <a:ext uri="{FF2B5EF4-FFF2-40B4-BE49-F238E27FC236}">
                <a16:creationId xmlns:a16="http://schemas.microsoft.com/office/drawing/2014/main" id="{C276B153-13AB-4818-8CC9-7A69902B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81575"/>
            <a:ext cx="4953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4" name="label-worker-calls">
            <a:extLst xmlns:a="http://schemas.openxmlformats.org/drawingml/2006/main">
              <a:ext uri="{FF2B5EF4-FFF2-40B4-BE49-F238E27FC236}">
                <a16:creationId xmlns:a16="http://schemas.microsoft.com/office/drawing/2014/main" id="{2D2C6064-222E-42EC-BF07-4F7C8E81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81575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calls</a:t>
            </a:r>
          </a:p>
        </p:txBody>
      </p:sp>
      <p:sp>
        <p:nvSpPr>
          <p:cNvPr id="75" name="label-uses-bg">
            <a:extLst xmlns:a="http://schemas.openxmlformats.org/drawingml/2006/main">
              <a:ext uri="{FF2B5EF4-FFF2-40B4-BE49-F238E27FC236}">
                <a16:creationId xmlns:a16="http://schemas.microsoft.com/office/drawing/2014/main" id="{662F1351-17C5-40FE-B4F6-94D14823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38550"/>
            <a:ext cx="3619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6" name="label-uses">
            <a:extLst xmlns:a="http://schemas.openxmlformats.org/drawingml/2006/main">
              <a:ext uri="{FF2B5EF4-FFF2-40B4-BE49-F238E27FC236}">
                <a16:creationId xmlns:a16="http://schemas.microsoft.com/office/drawing/2014/main" id="{5B725657-E6D4-414F-897A-B3DCCA0F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38550"/>
            <a:ext cx="361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uses</a:t>
            </a:r>
          </a:p>
        </p:txBody>
      </p:sp>
      <p:sp>
        <p:nvSpPr>
          <p:cNvPr id="77" name="label-depends-bg">
            <a:extLst xmlns:a="http://schemas.openxmlformats.org/drawingml/2006/main">
              <a:ext uri="{FF2B5EF4-FFF2-40B4-BE49-F238E27FC236}">
                <a16:creationId xmlns:a16="http://schemas.microsoft.com/office/drawing/2014/main" id="{FDC59BAD-1518-4F28-82BA-0D8613B2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76800"/>
            <a:ext cx="809625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8" name="label-depends">
            <a:extLst xmlns:a="http://schemas.openxmlformats.org/drawingml/2006/main">
              <a:ext uri="{FF2B5EF4-FFF2-40B4-BE49-F238E27FC236}">
                <a16:creationId xmlns:a16="http://schemas.microsoft.com/office/drawing/2014/main" id="{34BB5383-6133-4D54-B08F-17ED38B7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76800"/>
            <a:ext cx="809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depends on</a:t>
            </a:r>
          </a:p>
        </p:txBody>
      </p:sp>
      <p:sp>
        <p:nvSpPr>
          <p:cNvPr id="79" name="label-implements-bg">
            <a:extLst xmlns:a="http://schemas.openxmlformats.org/drawingml/2006/main">
              <a:ext uri="{FF2B5EF4-FFF2-40B4-BE49-F238E27FC236}">
                <a16:creationId xmlns:a16="http://schemas.microsoft.com/office/drawing/2014/main" id="{BDCA7B3C-23B0-437B-850E-8194BBD3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43425"/>
            <a:ext cx="8001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0" name="label-implements">
            <a:extLst xmlns:a="http://schemas.openxmlformats.org/drawingml/2006/main">
              <a:ext uri="{FF2B5EF4-FFF2-40B4-BE49-F238E27FC236}">
                <a16:creationId xmlns:a16="http://schemas.microsoft.com/office/drawing/2014/main" id="{FA3306A2-E2FA-4FCB-8712-C0E9BD7E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43425"/>
            <a:ext cx="800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implements</a:t>
            </a:r>
          </a:p>
        </p:txBody>
      </p:sp>
      <p:sp>
        <p:nvSpPr>
          <p:cNvPr id="81" name="label-wires-bg">
            <a:extLst xmlns:a="http://schemas.openxmlformats.org/drawingml/2006/main">
              <a:ext uri="{FF2B5EF4-FFF2-40B4-BE49-F238E27FC236}">
                <a16:creationId xmlns:a16="http://schemas.microsoft.com/office/drawing/2014/main" id="{FD3AE959-BEA6-4A92-826C-0DE0961C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4572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2" name="label-wires">
            <a:extLst xmlns:a="http://schemas.openxmlformats.org/drawingml/2006/main">
              <a:ext uri="{FF2B5EF4-FFF2-40B4-BE49-F238E27FC236}">
                <a16:creationId xmlns:a16="http://schemas.microsoft.com/office/drawing/2014/main" id="{F8077241-6B68-4F28-88E3-38BFC1C7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8B7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8B72"/>
                </a:solidFill>
                <a:latin typeface="IBM Plex Sans"/>
                <a:ea typeface="IBM Plex Sans"/>
                <a:cs typeface="IBM Plex Sans"/>
              </a:rPr>
              <a:t>wires</a:t>
            </a:r>
          </a:p>
        </p:txBody>
      </p:sp>
      <p:sp>
        <p:nvSpPr>
          <p:cNvPr id="83" name="label-launches-bg">
            <a:extLst xmlns:a="http://schemas.openxmlformats.org/drawingml/2006/main">
              <a:ext uri="{FF2B5EF4-FFF2-40B4-BE49-F238E27FC236}">
                <a16:creationId xmlns:a16="http://schemas.microsoft.com/office/drawing/2014/main" id="{AA1812CB-EFAD-4140-8F82-D344E78E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6667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4" name="label-launches">
            <a:extLst xmlns:a="http://schemas.openxmlformats.org/drawingml/2006/main">
              <a:ext uri="{FF2B5EF4-FFF2-40B4-BE49-F238E27FC236}">
                <a16:creationId xmlns:a16="http://schemas.microsoft.com/office/drawing/2014/main" id="{61A71BCE-6608-4D6F-9F23-B93154E8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launches</a:t>
            </a:r>
          </a:p>
        </p:txBody>
      </p:sp>
      <p:sp>
        <p:nvSpPr>
          <p:cNvPr id="85" name="label-storage-bg">
            <a:extLst xmlns:a="http://schemas.openxmlformats.org/drawingml/2006/main">
              <a:ext uri="{FF2B5EF4-FFF2-40B4-BE49-F238E27FC236}">
                <a16:creationId xmlns:a16="http://schemas.microsoft.com/office/drawing/2014/main" id="{08296CA9-815B-4EF5-8EA4-B77CE384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76675"/>
            <a:ext cx="10287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6" name="label-storage">
            <a:extLst xmlns:a="http://schemas.openxmlformats.org/drawingml/2006/main">
              <a:ext uri="{FF2B5EF4-FFF2-40B4-BE49-F238E27FC236}">
                <a16:creationId xmlns:a16="http://schemas.microsoft.com/office/drawing/2014/main" id="{DD872CB6-8260-44C8-8B66-4F36A030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76675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reads and writes</a:t>
            </a:r>
          </a:p>
        </p:txBody>
      </p:sp>
    </p:spTree>
    <p:extLst>
      <p:ext uri="{BB962C8B-B14F-4D97-AF65-F5344CB8AC3E}">
        <p14:creationId xmlns:p14="http://schemas.microsoft.com/office/powerpoint/2010/main" val="256080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2026-09-07T06:38:34.4610000Z</dcterms:created>
  <dcterms:modified xsi:type="dcterms:W3CDTF">2026-09-07T06:38:34.4610000Z</dcterms:modified>
</coreProperties>
</file>