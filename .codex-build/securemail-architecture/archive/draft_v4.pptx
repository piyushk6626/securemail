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e3ae7fdb55418a" /><Relationship Type="http://schemas.openxmlformats.org/officeDocument/2006/relationships/extended-properties" Target="/docProps/app.xml" Id="R25e9b63b9e164cfa" /><Relationship Type="http://schemas.openxmlformats.org/officeDocument/2006/relationships/officeDocument" Target="/ppt/presentation.xml" Id="Rafbc9677bbd24e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f928b325fd4621"/>
  </p:sldMasterIdLst>
  <p:notesMasterIdLst>
    <p:notesMasterId xmlns:r="http://schemas.openxmlformats.org/officeDocument/2006/relationships" r:id="R6177daed72254f00"/>
  </p:notesMasterIdLst>
  <p:sldIdLst>
    <p:sldId xmlns:r="http://schemas.openxmlformats.org/officeDocument/2006/relationships" id="256" r:id="R7f23943596884a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6425833d0747d8" /><Relationship Type="http://schemas.openxmlformats.org/officeDocument/2006/relationships/slideMaster" Target="/ppt/slideMasters/slideMaster1.xml" Id="R30f928b325fd4621" /><Relationship Type="http://schemas.openxmlformats.org/officeDocument/2006/relationships/notesMaster" Target="/ppt/notesMasters/notesMaster1.xml" Id="R6177daed72254f00" /><Relationship Type="http://schemas.openxmlformats.org/officeDocument/2006/relationships/presProps" Target="/ppt/presProps.xml" Id="R0ea0ddbbbcd541c6" /><Relationship Type="http://schemas.openxmlformats.org/officeDocument/2006/relationships/tableStyles" Target="/ppt/tableStyles.xml" Id="R474060958a684b4d" /><Relationship Type="http://schemas.openxmlformats.org/officeDocument/2006/relationships/slide" Target="/ppt/slides/slide1.xml" Id="R7f23943596884a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b6ea51a02a4b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0ac303928194c86" /><Relationship Type="http://schemas.openxmlformats.org/officeDocument/2006/relationships/notesMaster" Target="/ppt/notesMasters/notesMaster1.xml" Id="Raf6d338620cb43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component and package view. Arrows show calls, dependencies, implementation, composition, or runtime lifecycle. They do not represent the capture-processing sequence.</a:t>
            </a:r>
          </a:p>
          <a:p xmlns:a="http://schemas.openxmlformats.org/drawingml/2006/main">
            <a:r>
              <a:t>Sources: docs/development/repository-map.md; docs/architecture/clean-architecture.md; docs/architecture/runtime-topology.md; docs/architecture/frontend-data-flow.md; src/securemail/bootstrap.py; src/securemail/worker.py.</a:t>
            </a:r>
          </a:p>
          <a:p xmlns:a="http://schemas.openxmlformats.org/drawingml/2006/main">
            <a:r>
              <a:t>Verified against the repository on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10d67af2f847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04fae1c9004f41" /><Relationship Type="http://schemas.openxmlformats.org/officeDocument/2006/relationships/slideLayout" Target="/ppt/slideLayouts/slideLayout1.xml" Id="Rf89500a2da254f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89500a2da254f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9894b080a4b07" /><Relationship Type="http://schemas.openxmlformats.org/officeDocument/2006/relationships/notesSlide" Target="/ppt/notesSlides/notesSlide1.xml" Id="Re2198f4181374b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title">
            <a:extLst xmlns:a="http://schemas.openxmlformats.org/drawingml/2006/main">
              <a:ext uri="{FF2B5EF4-FFF2-40B4-BE49-F238E27FC236}">
                <a16:creationId xmlns:a16="http://schemas.microsoft.com/office/drawing/2014/main" id="{EEAC16A4-EE0C-4AF9-AAFD-C39A10EB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31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SecureMail component architecture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8AB5AB4-D4BE-4E72-9B4D-5362D413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33425"/>
            <a:ext cx="11163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5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Current packages, runtime components and dependency boundaries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63B0E58-FB89-485B-852B-D46639A0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4" name="securemail-workstation">
            <a:extLst xmlns:a="http://schemas.openxmlformats.org/drawingml/2006/main">
              <a:ext uri="{FF2B5EF4-FFF2-40B4-BE49-F238E27FC236}">
                <a16:creationId xmlns:a16="http://schemas.microsoft.com/office/drawing/2014/main" id="{BFB1F6C9-8E35-49D2-9EA9-C583B017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5067300"/>
          </a:xfrm>
          <a:prstGeom xmlns:a="http://schemas.openxmlformats.org/drawingml/2006/main" prst="roundRect">
            <a:avLst>
              <a:gd name="adj" fmla="val 3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A9B8C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system-label">
            <a:extLst xmlns:a="http://schemas.openxmlformats.org/drawingml/2006/main">
              <a:ext uri="{FF2B5EF4-FFF2-40B4-BE49-F238E27FC236}">
                <a16:creationId xmlns:a16="http://schemas.microsoft.com/office/drawing/2014/main" id="{99180470-9631-469F-BD7D-0B6491E3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430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SECUREMAIL WORKSTATION</a:t>
            </a:r>
          </a:p>
        </p:txBody>
      </p:sp>
      <p:sp>
        <p:nvSpPr>
          <p:cNvPr id="6" name="entry-group">
            <a:extLst xmlns:a="http://schemas.openxmlformats.org/drawingml/2006/main">
              <a:ext uri="{FF2B5EF4-FFF2-40B4-BE49-F238E27FC236}">
                <a16:creationId xmlns:a16="http://schemas.microsoft.com/office/drawing/2014/main" id="{E34BD6AE-98C2-441F-A08D-385FD622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457450" cy="44005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C9D5DF"/>
            </a:solidFill>
            <a:prstDash val="solid"/>
          </a:ln>
        </p:spPr>
      </p:sp>
      <p:sp>
        <p:nvSpPr>
          <p:cNvPr id="7" name="entry-group-accent">
            <a:extLst xmlns:a="http://schemas.openxmlformats.org/drawingml/2006/main">
              <a:ext uri="{FF2B5EF4-FFF2-40B4-BE49-F238E27FC236}">
                <a16:creationId xmlns:a16="http://schemas.microsoft.com/office/drawing/2014/main" id="{340F24E1-C22F-4CD9-8404-471824F74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8" name="entry-group-label">
            <a:extLst xmlns:a="http://schemas.openxmlformats.org/drawingml/2006/main">
              <a:ext uri="{FF2B5EF4-FFF2-40B4-BE49-F238E27FC236}">
                <a16:creationId xmlns:a16="http://schemas.microsoft.com/office/drawing/2014/main" id="{0CEE7621-92AF-4D75-BC10-A050EA1F4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5260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9758C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59758C"/>
                </a:solidFill>
                <a:latin typeface="IBM Plex Sans"/>
                <a:ea typeface="IBM Plex Sans"/>
                <a:cs typeface="IBM Plex Sans"/>
              </a:rPr>
              <a:t>ENTRY POINTS</a:t>
            </a:r>
          </a:p>
        </p:txBody>
      </p:sp>
      <p:sp>
        <p:nvSpPr>
          <p:cNvPr id="9" name="core-group">
            <a:extLst xmlns:a="http://schemas.openxmlformats.org/drawingml/2006/main">
              <a:ext uri="{FF2B5EF4-FFF2-40B4-BE49-F238E27FC236}">
                <a16:creationId xmlns:a16="http://schemas.microsoft.com/office/drawing/2014/main" id="{B4FF0904-7137-4150-ACA2-EFCCE740F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657350"/>
            <a:ext cx="4591050" cy="44005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ECF8FC"/>
          </a:solidFill>
          <a:ln xmlns:a="http://schemas.openxmlformats.org/drawingml/2006/main" w="14288">
            <a:solidFill>
              <a:srgbClr val="8FD2E7"/>
            </a:solidFill>
            <a:prstDash val="solid"/>
          </a:ln>
        </p:spPr>
      </p:sp>
      <p:sp>
        <p:nvSpPr>
          <p:cNvPr id="10" name="core-group-accent">
            <a:extLst xmlns:a="http://schemas.openxmlformats.org/drawingml/2006/main">
              <a:ext uri="{FF2B5EF4-FFF2-40B4-BE49-F238E27FC236}">
                <a16:creationId xmlns:a16="http://schemas.microsoft.com/office/drawing/2014/main" id="{6E1D1E85-1FBA-4369-AE5C-ABAB07E58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11" name="core-group-label">
            <a:extLst xmlns:a="http://schemas.openxmlformats.org/drawingml/2006/main">
              <a:ext uri="{FF2B5EF4-FFF2-40B4-BE49-F238E27FC236}">
                <a16:creationId xmlns:a16="http://schemas.microsoft.com/office/drawing/2014/main" id="{D5059F6A-A6BE-4EBC-B85A-BC31C751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52600"/>
            <a:ext cx="424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38BB3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138BB3"/>
                </a:solidFill>
                <a:latin typeface="IBM Plex Sans"/>
                <a:ea typeface="IBM Plex Sans"/>
                <a:cs typeface="IBM Plex Sans"/>
              </a:rPr>
              <a:t>CORE LOGIC AND CONTRACTS</a:t>
            </a:r>
          </a:p>
        </p:txBody>
      </p:sp>
      <p:sp>
        <p:nvSpPr>
          <p:cNvPr id="12" name="infra-group">
            <a:extLst xmlns:a="http://schemas.openxmlformats.org/drawingml/2006/main">
              <a:ext uri="{FF2B5EF4-FFF2-40B4-BE49-F238E27FC236}">
                <a16:creationId xmlns:a16="http://schemas.microsoft.com/office/drawing/2014/main" id="{9FDC4796-8814-4E53-87DE-64FBB186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429000" cy="44005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7F3FC"/>
          </a:solidFill>
          <a:ln xmlns:a="http://schemas.openxmlformats.org/drawingml/2006/main" w="14288">
            <a:solidFill>
              <a:srgbClr val="CDBDEA"/>
            </a:solidFill>
            <a:prstDash val="solid"/>
          </a:ln>
        </p:spPr>
      </p:sp>
      <p:sp>
        <p:nvSpPr>
          <p:cNvPr id="13" name="infra-group-accent">
            <a:extLst xmlns:a="http://schemas.openxmlformats.org/drawingml/2006/main">
              <a:ext uri="{FF2B5EF4-FFF2-40B4-BE49-F238E27FC236}">
                <a16:creationId xmlns:a16="http://schemas.microsoft.com/office/drawing/2014/main" id="{D2A4C264-98C8-4B66-A6CB-2CFBEA60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57400"/>
            <a:ext cx="4000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14" name="infra-group-label">
            <a:extLst xmlns:a="http://schemas.openxmlformats.org/drawingml/2006/main">
              <a:ext uri="{FF2B5EF4-FFF2-40B4-BE49-F238E27FC236}">
                <a16:creationId xmlns:a16="http://schemas.microsoft.com/office/drawing/2014/main" id="{E808E19F-328A-47B8-AD1B-04F9C63F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ADAPTERS AND LOCAL RUNTIME</a:t>
            </a:r>
          </a:p>
        </p:txBody>
      </p:sp>
      <p:sp>
        <p:nvSpPr>
          <p:cNvPr id="15" name="frontend-node">
            <a:extLst xmlns:a="http://schemas.openxmlformats.org/drawingml/2006/main">
              <a:ext uri="{FF2B5EF4-FFF2-40B4-BE49-F238E27FC236}">
                <a16:creationId xmlns:a16="http://schemas.microsoft.com/office/drawing/2014/main" id="{4E2769D5-352C-417A-B74F-B0F8DAD66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181225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frontend-node-marker">
            <a:extLst xmlns:a="http://schemas.openxmlformats.org/drawingml/2006/main">
              <a:ext uri="{FF2B5EF4-FFF2-40B4-BE49-F238E27FC236}">
                <a16:creationId xmlns:a16="http://schemas.microsoft.com/office/drawing/2014/main" id="{CA9A5C79-9A5D-46EA-986D-AB62E9FE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31457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17" name="frontend-node-title">
            <a:extLst xmlns:a="http://schemas.openxmlformats.org/drawingml/2006/main">
              <a:ext uri="{FF2B5EF4-FFF2-40B4-BE49-F238E27FC236}">
                <a16:creationId xmlns:a16="http://schemas.microsoft.com/office/drawing/2014/main" id="{64E092F8-9B92-4B57-906A-E8AB1505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27647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frontend/</a:t>
            </a:r>
          </a:p>
        </p:txBody>
      </p:sp>
      <p:sp>
        <p:nvSpPr>
          <p:cNvPr id="18" name="frontend-node-description">
            <a:extLst xmlns:a="http://schemas.openxmlformats.org/drawingml/2006/main">
              <a:ext uri="{FF2B5EF4-FFF2-40B4-BE49-F238E27FC236}">
                <a16:creationId xmlns:a16="http://schemas.microsoft.com/office/drawing/2014/main" id="{B2C64596-E104-4CF1-9707-0C28EBE7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54317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React dashboard</a:t>
            </a:r>
          </a:p>
        </p:txBody>
      </p:sp>
      <p:sp>
        <p:nvSpPr>
          <p:cNvPr id="19" name="api-node">
            <a:extLst xmlns:a="http://schemas.openxmlformats.org/drawingml/2006/main">
              <a:ext uri="{FF2B5EF4-FFF2-40B4-BE49-F238E27FC236}">
                <a16:creationId xmlns:a16="http://schemas.microsoft.com/office/drawing/2014/main" id="{134EDD4A-3B33-4411-A1AF-F4C1ED76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95650"/>
            <a:ext cx="2057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api-node-marker">
            <a:extLst xmlns:a="http://schemas.openxmlformats.org/drawingml/2006/main">
              <a:ext uri="{FF2B5EF4-FFF2-40B4-BE49-F238E27FC236}">
                <a16:creationId xmlns:a16="http://schemas.microsoft.com/office/drawing/2014/main" id="{C1B45AB7-2FE9-4C60-A54F-5C7D961F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29000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21" name="api-node-title">
            <a:extLst xmlns:a="http://schemas.openxmlformats.org/drawingml/2006/main">
              <a:ext uri="{FF2B5EF4-FFF2-40B4-BE49-F238E27FC236}">
                <a16:creationId xmlns:a16="http://schemas.microsoft.com/office/drawing/2014/main" id="{0E0B9205-D5C5-4CDB-B1BA-BC15B6BD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390900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api/</a:t>
            </a:r>
          </a:p>
        </p:txBody>
      </p:sp>
      <p:sp>
        <p:nvSpPr>
          <p:cNvPr id="22" name="api-node-description">
            <a:extLst xmlns:a="http://schemas.openxmlformats.org/drawingml/2006/main">
              <a:ext uri="{FF2B5EF4-FFF2-40B4-BE49-F238E27FC236}">
                <a16:creationId xmlns:a16="http://schemas.microsoft.com/office/drawing/2014/main" id="{60621C65-E794-43E8-A488-CBACCE4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576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Typer CLI and FastAPI routers</a:t>
            </a:r>
          </a:p>
        </p:txBody>
      </p:sp>
      <p:sp>
        <p:nvSpPr>
          <p:cNvPr id="23" name="worker-node">
            <a:extLst xmlns:a="http://schemas.openxmlformats.org/drawingml/2006/main">
              <a:ext uri="{FF2B5EF4-FFF2-40B4-BE49-F238E27FC236}">
                <a16:creationId xmlns:a16="http://schemas.microsoft.com/office/drawing/2014/main" id="{51A3C2EA-E185-4862-8AE9-AED7F374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29175"/>
            <a:ext cx="2057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9758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worker-node-marker">
            <a:extLst xmlns:a="http://schemas.openxmlformats.org/drawingml/2006/main">
              <a:ext uri="{FF2B5EF4-FFF2-40B4-BE49-F238E27FC236}">
                <a16:creationId xmlns:a16="http://schemas.microsoft.com/office/drawing/2014/main" id="{9AED6146-B1B1-4F9D-9981-7193A213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6252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9758C"/>
          </a:solidFill>
          <a:ln xmlns:a="http://schemas.openxmlformats.org/drawingml/2006/main" w="0">
            <a:solidFill>
              <a:srgbClr val="59758C"/>
            </a:solidFill>
            <a:prstDash val="solid"/>
          </a:ln>
        </p:spPr>
      </p:sp>
      <p:sp>
        <p:nvSpPr>
          <p:cNvPr id="25" name="worker-node-title">
            <a:extLst xmlns:a="http://schemas.openxmlformats.org/drawingml/2006/main">
              <a:ext uri="{FF2B5EF4-FFF2-40B4-BE49-F238E27FC236}">
                <a16:creationId xmlns:a16="http://schemas.microsoft.com/office/drawing/2014/main" id="{7A3FB89C-4E98-4578-849C-8B37F28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1676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worker.py</a:t>
            </a:r>
          </a:p>
        </p:txBody>
      </p:sp>
      <p:sp>
        <p:nvSpPr>
          <p:cNvPr id="26" name="worker-node-description">
            <a:extLst xmlns:a="http://schemas.openxmlformats.org/drawingml/2006/main">
              <a:ext uri="{FF2B5EF4-FFF2-40B4-BE49-F238E27FC236}">
                <a16:creationId xmlns:a16="http://schemas.microsoft.com/office/drawing/2014/main" id="{290983D4-61DB-4B23-B84C-805A5395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191125"/>
            <a:ext cx="1676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Local job processor</a:t>
            </a:r>
          </a:p>
        </p:txBody>
      </p:sp>
      <p:sp>
        <p:nvSpPr>
          <p:cNvPr id="27" name="bootstrap-node">
            <a:extLst xmlns:a="http://schemas.openxmlformats.org/drawingml/2006/main">
              <a:ext uri="{FF2B5EF4-FFF2-40B4-BE49-F238E27FC236}">
                <a16:creationId xmlns:a16="http://schemas.microsoft.com/office/drawing/2014/main" id="{E6538BD0-088A-4F41-9E35-834D44C4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4133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8B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bootstrap-node-marker">
            <a:extLst xmlns:a="http://schemas.openxmlformats.org/drawingml/2006/main">
              <a:ext uri="{FF2B5EF4-FFF2-40B4-BE49-F238E27FC236}">
                <a16:creationId xmlns:a16="http://schemas.microsoft.com/office/drawing/2014/main" id="{DE508C65-A6CF-46BE-93BB-91BB0925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86000"/>
            <a:ext cx="571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8B72"/>
          </a:solidFill>
          <a:ln xmlns:a="http://schemas.openxmlformats.org/drawingml/2006/main" w="0">
            <a:solidFill>
              <a:srgbClr val="2D8B72"/>
            </a:solidFill>
            <a:prstDash val="solid"/>
          </a:ln>
        </p:spPr>
      </p:sp>
      <p:sp>
        <p:nvSpPr>
          <p:cNvPr id="29" name="bootstrap-node-title">
            <a:extLst xmlns:a="http://schemas.openxmlformats.org/drawingml/2006/main">
              <a:ext uri="{FF2B5EF4-FFF2-40B4-BE49-F238E27FC236}">
                <a16:creationId xmlns:a16="http://schemas.microsoft.com/office/drawing/2014/main" id="{C557C3D1-E505-4029-A18A-8F5A9FF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4790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bootstrap.py</a:t>
            </a:r>
          </a:p>
        </p:txBody>
      </p:sp>
      <p:sp>
        <p:nvSpPr>
          <p:cNvPr id="30" name="bootstrap-node-description">
            <a:extLst xmlns:a="http://schemas.openxmlformats.org/drawingml/2006/main">
              <a:ext uri="{FF2B5EF4-FFF2-40B4-BE49-F238E27FC236}">
                <a16:creationId xmlns:a16="http://schemas.microsoft.com/office/drawing/2014/main" id="{36FD1266-0F6F-42AD-B9FE-881CC91C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14600"/>
            <a:ext cx="3752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Composition root</a:t>
            </a:r>
          </a:p>
        </p:txBody>
      </p:sp>
      <p:sp>
        <p:nvSpPr>
          <p:cNvPr id="31" name="application-node">
            <a:extLst xmlns:a="http://schemas.openxmlformats.org/drawingml/2006/main">
              <a:ext uri="{FF2B5EF4-FFF2-40B4-BE49-F238E27FC236}">
                <a16:creationId xmlns:a16="http://schemas.microsoft.com/office/drawing/2014/main" id="{6FD2625E-8EEF-4EA3-A60B-53392961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71850"/>
            <a:ext cx="18478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application-node-marker">
            <a:extLst xmlns:a="http://schemas.openxmlformats.org/drawingml/2006/main">
              <a:ext uri="{FF2B5EF4-FFF2-40B4-BE49-F238E27FC236}">
                <a16:creationId xmlns:a16="http://schemas.microsoft.com/office/drawing/2014/main" id="{D61ABBE4-D8EA-4D57-A832-19D2D7C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05200"/>
            <a:ext cx="5715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33" name="application-node-title">
            <a:extLst xmlns:a="http://schemas.openxmlformats.org/drawingml/2006/main">
              <a:ext uri="{FF2B5EF4-FFF2-40B4-BE49-F238E27FC236}">
                <a16:creationId xmlns:a16="http://schemas.microsoft.com/office/drawing/2014/main" id="{8D1AF3F8-A63A-4CDE-A20A-60E3F3A9C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67100"/>
            <a:ext cx="1466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application/</a:t>
            </a:r>
          </a:p>
        </p:txBody>
      </p:sp>
      <p:sp>
        <p:nvSpPr>
          <p:cNvPr id="34" name="application-node-description">
            <a:extLst xmlns:a="http://schemas.openxmlformats.org/drawingml/2006/main">
              <a:ext uri="{FF2B5EF4-FFF2-40B4-BE49-F238E27FC236}">
                <a16:creationId xmlns:a16="http://schemas.microsoft.com/office/drawing/2014/main" id="{377F6E88-AEB2-4192-A831-FE96ADABD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33800"/>
            <a:ext cx="1466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Use cases and normalization</a:t>
            </a:r>
          </a:p>
        </p:txBody>
      </p:sp>
      <p:sp>
        <p:nvSpPr>
          <p:cNvPr id="35" name="domain-node">
            <a:extLst xmlns:a="http://schemas.openxmlformats.org/drawingml/2006/main">
              <a:ext uri="{FF2B5EF4-FFF2-40B4-BE49-F238E27FC236}">
                <a16:creationId xmlns:a16="http://schemas.microsoft.com/office/drawing/2014/main" id="{E40C08FA-A977-49ED-9959-8A8E8D93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257550"/>
            <a:ext cx="19812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domain-node-marker">
            <a:extLst xmlns:a="http://schemas.openxmlformats.org/drawingml/2006/main">
              <a:ext uri="{FF2B5EF4-FFF2-40B4-BE49-F238E27FC236}">
                <a16:creationId xmlns:a16="http://schemas.microsoft.com/office/drawing/2014/main" id="{7D44D397-2A06-4B3F-AF31-B4266354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57150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37" name="domain-node-title">
            <a:extLst xmlns:a="http://schemas.openxmlformats.org/drawingml/2006/main">
              <a:ext uri="{FF2B5EF4-FFF2-40B4-BE49-F238E27FC236}">
                <a16:creationId xmlns:a16="http://schemas.microsoft.com/office/drawing/2014/main" id="{1C34D946-0DA8-436A-A366-55B50730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352800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domain/</a:t>
            </a:r>
          </a:p>
        </p:txBody>
      </p:sp>
      <p:sp>
        <p:nvSpPr>
          <p:cNvPr id="38" name="domain-node-description">
            <a:extLst xmlns:a="http://schemas.openxmlformats.org/drawingml/2006/main">
              <a:ext uri="{FF2B5EF4-FFF2-40B4-BE49-F238E27FC236}">
                <a16:creationId xmlns:a16="http://schemas.microsoft.com/office/drawing/2014/main" id="{DC0DAB29-2B18-4EFE-9D48-9A5F813B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619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Evidence models, policy, scoring, report schemas, jobs and ML</a:t>
            </a:r>
          </a:p>
        </p:txBody>
      </p:sp>
      <p:sp>
        <p:nvSpPr>
          <p:cNvPr id="39" name="ports-node">
            <a:extLst xmlns:a="http://schemas.openxmlformats.org/drawingml/2006/main">
              <a:ext uri="{FF2B5EF4-FFF2-40B4-BE49-F238E27FC236}">
                <a16:creationId xmlns:a16="http://schemas.microsoft.com/office/drawing/2014/main" id="{D06CFF30-655A-4932-B61E-EC7C859C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62525"/>
            <a:ext cx="19812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38BB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ports-node-marker">
            <a:extLst xmlns:a="http://schemas.openxmlformats.org/drawingml/2006/main">
              <a:ext uri="{FF2B5EF4-FFF2-40B4-BE49-F238E27FC236}">
                <a16:creationId xmlns:a16="http://schemas.microsoft.com/office/drawing/2014/main" id="{BD02D5F4-EE3C-44B7-8C57-12F8BAEB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9587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8BB3"/>
          </a:solidFill>
          <a:ln xmlns:a="http://schemas.openxmlformats.org/drawingml/2006/main" w="0">
            <a:solidFill>
              <a:srgbClr val="138BB3"/>
            </a:solidFill>
            <a:prstDash val="solid"/>
          </a:ln>
        </p:spPr>
      </p:sp>
      <p:sp>
        <p:nvSpPr>
          <p:cNvPr id="41" name="ports-node-title">
            <a:extLst xmlns:a="http://schemas.openxmlformats.org/drawingml/2006/main">
              <a:ext uri="{FF2B5EF4-FFF2-40B4-BE49-F238E27FC236}">
                <a16:creationId xmlns:a16="http://schemas.microsoft.com/office/drawing/2014/main" id="{CF00043C-D12E-4F12-B631-F76AAC5A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057775"/>
            <a:ext cx="160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ports/</a:t>
            </a:r>
          </a:p>
        </p:txBody>
      </p:sp>
      <p:sp>
        <p:nvSpPr>
          <p:cNvPr id="42" name="ports-node-description">
            <a:extLst xmlns:a="http://schemas.openxmlformats.org/drawingml/2006/main">
              <a:ext uri="{FF2B5EF4-FFF2-40B4-BE49-F238E27FC236}">
                <a16:creationId xmlns:a16="http://schemas.microsoft.com/office/drawing/2014/main" id="{D0522379-62B7-4582-B781-0AB80FF2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24475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Analyzer, storage, report and ML contracts</a:t>
            </a:r>
          </a:p>
        </p:txBody>
      </p:sp>
      <p:sp>
        <p:nvSpPr>
          <p:cNvPr id="43" name="adapters-node">
            <a:extLst xmlns:a="http://schemas.openxmlformats.org/drawingml/2006/main">
              <a:ext uri="{FF2B5EF4-FFF2-40B4-BE49-F238E27FC236}">
                <a16:creationId xmlns:a16="http://schemas.microsoft.com/office/drawing/2014/main" id="{445C32AB-8DD1-4E37-BB4B-6DB14C8A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52650"/>
            <a:ext cx="29527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adapters-node-marker">
            <a:extLst xmlns:a="http://schemas.openxmlformats.org/drawingml/2006/main">
              <a:ext uri="{FF2B5EF4-FFF2-40B4-BE49-F238E27FC236}">
                <a16:creationId xmlns:a16="http://schemas.microsoft.com/office/drawing/2014/main" id="{0083D0CD-7B3C-4731-9788-BD703C66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286000"/>
            <a:ext cx="57150" cy="1085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45" name="adapters-node-title">
            <a:extLst xmlns:a="http://schemas.openxmlformats.org/drawingml/2006/main">
              <a:ext uri="{FF2B5EF4-FFF2-40B4-BE49-F238E27FC236}">
                <a16:creationId xmlns:a16="http://schemas.microsoft.com/office/drawing/2014/main" id="{E1FBC694-C9F7-42B7-80DB-8015E219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247900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5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adapters/</a:t>
            </a:r>
          </a:p>
        </p:txBody>
      </p:sp>
      <p:sp>
        <p:nvSpPr>
          <p:cNvPr id="46" name="adapters-node-description">
            <a:extLst xmlns:a="http://schemas.openxmlformats.org/drawingml/2006/main">
              <a:ext uri="{FF2B5EF4-FFF2-40B4-BE49-F238E27FC236}">
                <a16:creationId xmlns:a16="http://schemas.microsoft.com/office/drawing/2014/main" id="{8D363024-8CCD-4063-BE7D-088B4018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25146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Analyzer runners, filesystem persistence, reporting, PKI and reference data, advisory ML</a:t>
            </a:r>
          </a:p>
        </p:txBody>
      </p:sp>
      <p:sp>
        <p:nvSpPr>
          <p:cNvPr id="47" name="analyzers-node">
            <a:extLst xmlns:a="http://schemas.openxmlformats.org/drawingml/2006/main">
              <a:ext uri="{FF2B5EF4-FFF2-40B4-BE49-F238E27FC236}">
                <a16:creationId xmlns:a16="http://schemas.microsoft.com/office/drawing/2014/main" id="{3CC97A1C-3FA6-4D3F-A786-99D3F485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86250"/>
            <a:ext cx="1381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analyzers-node-marker">
            <a:extLst xmlns:a="http://schemas.openxmlformats.org/drawingml/2006/main">
              <a:ext uri="{FF2B5EF4-FFF2-40B4-BE49-F238E27FC236}">
                <a16:creationId xmlns:a16="http://schemas.microsoft.com/office/drawing/2014/main" id="{FDCC4DC5-B806-405E-952C-8DF3C91A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4196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49" name="analyzers-node-title">
            <a:extLst xmlns:a="http://schemas.openxmlformats.org/drawingml/2006/main">
              <a:ext uri="{FF2B5EF4-FFF2-40B4-BE49-F238E27FC236}">
                <a16:creationId xmlns:a16="http://schemas.microsoft.com/office/drawing/2014/main" id="{6E93F5AC-9C07-4C2C-A9C6-265E9191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38150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689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350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Zeek + TShark</a:t>
            </a:r>
          </a:p>
        </p:txBody>
      </p:sp>
      <p:sp>
        <p:nvSpPr>
          <p:cNvPr id="50" name="analyzers-node-description">
            <a:extLst xmlns:a="http://schemas.openxmlformats.org/drawingml/2006/main">
              <a:ext uri="{FF2B5EF4-FFF2-40B4-BE49-F238E27FC236}">
                <a16:creationId xmlns:a16="http://schemas.microsoft.com/office/drawing/2014/main" id="{547ABA99-C3EA-4BEE-B2F7-5F454EF4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6482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Offline Docker analyzers</a:t>
            </a:r>
          </a:p>
        </p:txBody>
      </p:sp>
      <p:sp>
        <p:nvSpPr>
          <p:cNvPr id="51" name="filesystem-node">
            <a:extLst xmlns:a="http://schemas.openxmlformats.org/drawingml/2006/main">
              <a:ext uri="{FF2B5EF4-FFF2-40B4-BE49-F238E27FC236}">
                <a16:creationId xmlns:a16="http://schemas.microsoft.com/office/drawing/2014/main" id="{C57282AE-0795-4BF7-9D34-49532CB1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286250"/>
            <a:ext cx="1381125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758B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filesystem-node-marker">
            <a:extLst xmlns:a="http://schemas.openxmlformats.org/drawingml/2006/main">
              <a:ext uri="{FF2B5EF4-FFF2-40B4-BE49-F238E27FC236}">
                <a16:creationId xmlns:a16="http://schemas.microsoft.com/office/drawing/2014/main" id="{7442EFCE-1C97-4BEF-92E5-B90B7634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19600"/>
            <a:ext cx="57150" cy="800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58B7"/>
          </a:solidFill>
          <a:ln xmlns:a="http://schemas.openxmlformats.org/drawingml/2006/main" w="0">
            <a:solidFill>
              <a:srgbClr val="7758B7"/>
            </a:solidFill>
            <a:prstDash val="solid"/>
          </a:ln>
        </p:spPr>
      </p:sp>
      <p:sp>
        <p:nvSpPr>
          <p:cNvPr id="53" name="filesystem-node-title">
            <a:extLst xmlns:a="http://schemas.openxmlformats.org/drawingml/2006/main">
              <a:ext uri="{FF2B5EF4-FFF2-40B4-BE49-F238E27FC236}">
                <a16:creationId xmlns:a16="http://schemas.microsoft.com/office/drawing/2014/main" id="{63E4CA27-3605-4883-A9A6-D5BCFECF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381500"/>
            <a:ext cx="100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5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defRPr>
            </a:pPr>
            <a:r>
              <a:rPr sz="1275" b="1">
                <a:solidFill>
                  <a:srgbClr val="17324D"/>
                </a:solidFill>
                <a:latin typeface="IBM Plex Sans"/>
                <a:ea typeface="IBM Plex Sans"/>
                <a:cs typeface="IBM Plex Sans"/>
              </a:rPr>
              <a:t>Local filesystem</a:t>
            </a:r>
          </a:p>
        </p:txBody>
      </p:sp>
      <p:sp>
        <p:nvSpPr>
          <p:cNvPr id="54" name="filesystem-node-description">
            <a:extLst xmlns:a="http://schemas.openxmlformats.org/drawingml/2006/main">
              <a:ext uri="{FF2B5EF4-FFF2-40B4-BE49-F238E27FC236}">
                <a16:creationId xmlns:a16="http://schemas.microsoft.com/office/drawing/2014/main" id="{DBA8180A-E82E-45C1-9A15-C272F93C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48200"/>
            <a:ext cx="1000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200" b="0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Jobs, catalog, artifacts and ML history</a:t>
            </a:r>
          </a:p>
        </p:txBody>
      </p:sp>
      <p:cxnSp>
        <p:nvCxnSpPr>
          <p:cNvPr id="141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895475" y="2905125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895475" y="417195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7F91A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1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924175" y="3733800"/>
            <a:ext cx="619125" cy="95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23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 flipV="1">
            <a:off x="2924175" y="3829050"/>
            <a:ext cx="619125" cy="1362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5391150" y="3829050"/>
            <a:ext cx="30480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31" idx="2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4467225" y="4286250"/>
            <a:ext cx="1228725" cy="10668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6193">
            <a:solidFill>
              <a:srgbClr val="687D9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43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7677150" y="2828925"/>
            <a:ext cx="657225" cy="2524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8" name=""/>
          <p:cNvCxnSpPr>
            <a:stCxn xmlns:a="http://schemas.openxmlformats.org/drawingml/2006/main" id="27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2924175" y="2486025"/>
            <a:ext cx="619125" cy="1247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27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4467225" y="2819400"/>
            <a:ext cx="114300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50" name=""/>
          <p:cNvCxnSpPr>
            <a:stCxn xmlns:a="http://schemas.openxmlformats.org/drawingml/2006/main" id="27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7677150" y="2486025"/>
            <a:ext cx="65722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2D8B72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151" name=""/>
          <p:cNvCxnSpPr>
            <a:stCxn xmlns:a="http://schemas.openxmlformats.org/drawingml/2006/main" id="43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 flipH="1">
            <a:off x="9024938" y="3505200"/>
            <a:ext cx="7858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2" name=""/>
          <p:cNvCxnSpPr>
            <a:stCxn xmlns:a="http://schemas.openxmlformats.org/drawingml/2006/main" id="43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9810750" y="3505200"/>
            <a:ext cx="785813" cy="7810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7758B7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7" name="label-http-bg">
            <a:extLst xmlns:a="http://schemas.openxmlformats.org/drawingml/2006/main">
              <a:ext uri="{FF2B5EF4-FFF2-40B4-BE49-F238E27FC236}">
                <a16:creationId xmlns:a16="http://schemas.microsoft.com/office/drawing/2014/main" id="{FDA0E7F6-BEEA-4F06-8D78-CA0E2258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6858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68" name="label-http">
            <a:extLst xmlns:a="http://schemas.openxmlformats.org/drawingml/2006/main">
              <a:ext uri="{FF2B5EF4-FFF2-40B4-BE49-F238E27FC236}">
                <a16:creationId xmlns:a16="http://schemas.microsoft.com/office/drawing/2014/main" id="{8DA172E2-F555-4A7A-A2E0-7E4149D8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952750"/>
            <a:ext cx="6858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HTTP API</a:t>
            </a:r>
          </a:p>
        </p:txBody>
      </p:sp>
      <p:sp>
        <p:nvSpPr>
          <p:cNvPr id="69" name="label-spawns-bg">
            <a:extLst xmlns:a="http://schemas.openxmlformats.org/drawingml/2006/main">
              <a:ext uri="{FF2B5EF4-FFF2-40B4-BE49-F238E27FC236}">
                <a16:creationId xmlns:a16="http://schemas.microsoft.com/office/drawing/2014/main" id="{C30E6A88-801B-4D22-822B-97ADA3D3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6286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0" name="label-spawns">
            <a:extLst xmlns:a="http://schemas.openxmlformats.org/drawingml/2006/main">
              <a:ext uri="{FF2B5EF4-FFF2-40B4-BE49-F238E27FC236}">
                <a16:creationId xmlns:a16="http://schemas.microsoft.com/office/drawing/2014/main" id="{BA2D229C-8132-4F8C-BA5C-51A3250D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391025"/>
            <a:ext cx="628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spawns</a:t>
            </a:r>
          </a:p>
        </p:txBody>
      </p:sp>
      <p:sp>
        <p:nvSpPr>
          <p:cNvPr id="71" name="label-api-calls-bg">
            <a:extLst xmlns:a="http://schemas.openxmlformats.org/drawingml/2006/main">
              <a:ext uri="{FF2B5EF4-FFF2-40B4-BE49-F238E27FC236}">
                <a16:creationId xmlns:a16="http://schemas.microsoft.com/office/drawing/2014/main" id="{D5987172-CCFA-48BF-BF9B-615C4512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33775"/>
            <a:ext cx="4953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2" name="label-api-calls">
            <a:extLst xmlns:a="http://schemas.openxmlformats.org/drawingml/2006/main">
              <a:ext uri="{FF2B5EF4-FFF2-40B4-BE49-F238E27FC236}">
                <a16:creationId xmlns:a16="http://schemas.microsoft.com/office/drawing/2014/main" id="{47A7AF36-6C04-48A7-BADC-7057651C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53377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calls</a:t>
            </a:r>
          </a:p>
        </p:txBody>
      </p:sp>
      <p:sp>
        <p:nvSpPr>
          <p:cNvPr id="73" name="label-worker-calls-bg">
            <a:extLst xmlns:a="http://schemas.openxmlformats.org/drawingml/2006/main">
              <a:ext uri="{FF2B5EF4-FFF2-40B4-BE49-F238E27FC236}">
                <a16:creationId xmlns:a16="http://schemas.microsoft.com/office/drawing/2014/main" id="{FEBCF9B2-5D0D-433B-9A44-01C2B5A6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81575"/>
            <a:ext cx="4953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4" name="label-worker-calls">
            <a:extLst xmlns:a="http://schemas.openxmlformats.org/drawingml/2006/main">
              <a:ext uri="{FF2B5EF4-FFF2-40B4-BE49-F238E27FC236}">
                <a16:creationId xmlns:a16="http://schemas.microsoft.com/office/drawing/2014/main" id="{69FDBB2A-E6F2-4790-A4E6-BBDB3863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981575"/>
            <a:ext cx="495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calls</a:t>
            </a:r>
          </a:p>
        </p:txBody>
      </p:sp>
      <p:sp>
        <p:nvSpPr>
          <p:cNvPr id="75" name="label-uses-bg">
            <a:extLst xmlns:a="http://schemas.openxmlformats.org/drawingml/2006/main">
              <a:ext uri="{FF2B5EF4-FFF2-40B4-BE49-F238E27FC236}">
                <a16:creationId xmlns:a16="http://schemas.microsoft.com/office/drawing/2014/main" id="{A70DBB77-7455-4245-8711-C2989FD9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38550"/>
            <a:ext cx="2667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6" name="label-uses">
            <a:extLst xmlns:a="http://schemas.openxmlformats.org/drawingml/2006/main">
              <a:ext uri="{FF2B5EF4-FFF2-40B4-BE49-F238E27FC236}">
                <a16:creationId xmlns:a16="http://schemas.microsoft.com/office/drawing/2014/main" id="{52FE7747-4952-4C58-8ACE-A61FEDB5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38550"/>
            <a:ext cx="266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85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uses</a:t>
            </a:r>
          </a:p>
        </p:txBody>
      </p:sp>
      <p:sp>
        <p:nvSpPr>
          <p:cNvPr id="77" name="label-depends-bg">
            <a:extLst xmlns:a="http://schemas.openxmlformats.org/drawingml/2006/main">
              <a:ext uri="{FF2B5EF4-FFF2-40B4-BE49-F238E27FC236}">
                <a16:creationId xmlns:a16="http://schemas.microsoft.com/office/drawing/2014/main" id="{765D19EB-A725-4035-AC9D-AFCDF4FE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76800"/>
            <a:ext cx="809625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78" name="label-depends">
            <a:extLst xmlns:a="http://schemas.openxmlformats.org/drawingml/2006/main">
              <a:ext uri="{FF2B5EF4-FFF2-40B4-BE49-F238E27FC236}">
                <a16:creationId xmlns:a16="http://schemas.microsoft.com/office/drawing/2014/main" id="{73054DE8-7D70-4DC2-8905-04594FFF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876800"/>
            <a:ext cx="80962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5A6F82"/>
                </a:solidFill>
                <a:latin typeface="IBM Plex Sans"/>
                <a:ea typeface="IBM Plex Sans"/>
                <a:cs typeface="IBM Plex Sans"/>
              </a:rPr>
              <a:t>depends on</a:t>
            </a:r>
          </a:p>
        </p:txBody>
      </p:sp>
      <p:sp>
        <p:nvSpPr>
          <p:cNvPr id="79" name="label-implements-bg">
            <a:extLst xmlns:a="http://schemas.openxmlformats.org/drawingml/2006/main">
              <a:ext uri="{FF2B5EF4-FFF2-40B4-BE49-F238E27FC236}">
                <a16:creationId xmlns:a16="http://schemas.microsoft.com/office/drawing/2014/main" id="{089B9E06-5A82-4055-AD78-73C616A4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8001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0" name="label-implements">
            <a:extLst xmlns:a="http://schemas.openxmlformats.org/drawingml/2006/main">
              <a:ext uri="{FF2B5EF4-FFF2-40B4-BE49-F238E27FC236}">
                <a16:creationId xmlns:a16="http://schemas.microsoft.com/office/drawing/2014/main" id="{430E742A-97FA-41DC-9B2C-63BA52EA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43425"/>
            <a:ext cx="8001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implements</a:t>
            </a:r>
          </a:p>
        </p:txBody>
      </p:sp>
      <p:sp>
        <p:nvSpPr>
          <p:cNvPr id="81" name="label-wires-bg">
            <a:extLst xmlns:a="http://schemas.openxmlformats.org/drawingml/2006/main">
              <a:ext uri="{FF2B5EF4-FFF2-40B4-BE49-F238E27FC236}">
                <a16:creationId xmlns:a16="http://schemas.microsoft.com/office/drawing/2014/main" id="{48AC896E-6E19-4A57-A5D2-1C5D14A0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4572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2" name="label-wires">
            <a:extLst xmlns:a="http://schemas.openxmlformats.org/drawingml/2006/main">
              <a:ext uri="{FF2B5EF4-FFF2-40B4-BE49-F238E27FC236}">
                <a16:creationId xmlns:a16="http://schemas.microsoft.com/office/drawing/2014/main" id="{3177D648-4861-425F-825D-5EBD2C38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914650"/>
            <a:ext cx="457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D8B72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2D8B72"/>
                </a:solidFill>
                <a:latin typeface="IBM Plex Sans"/>
                <a:ea typeface="IBM Plex Sans"/>
                <a:cs typeface="IBM Plex Sans"/>
              </a:rPr>
              <a:t>wires</a:t>
            </a:r>
          </a:p>
        </p:txBody>
      </p:sp>
      <p:sp>
        <p:nvSpPr>
          <p:cNvPr id="83" name="label-launches-bg">
            <a:extLst xmlns:a="http://schemas.openxmlformats.org/drawingml/2006/main">
              <a:ext uri="{FF2B5EF4-FFF2-40B4-BE49-F238E27FC236}">
                <a16:creationId xmlns:a16="http://schemas.microsoft.com/office/drawing/2014/main" id="{5E938F70-0128-4E23-8586-98EE3348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66675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4" name="label-launches">
            <a:extLst xmlns:a="http://schemas.openxmlformats.org/drawingml/2006/main">
              <a:ext uri="{FF2B5EF4-FFF2-40B4-BE49-F238E27FC236}">
                <a16:creationId xmlns:a16="http://schemas.microsoft.com/office/drawing/2014/main" id="{D5715743-D8D1-426F-B50A-A33843C3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76675"/>
            <a:ext cx="666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launches</a:t>
            </a:r>
          </a:p>
        </p:txBody>
      </p:sp>
      <p:sp>
        <p:nvSpPr>
          <p:cNvPr id="85" name="label-storage-bg">
            <a:extLst xmlns:a="http://schemas.openxmlformats.org/drawingml/2006/main">
              <a:ext uri="{FF2B5EF4-FFF2-40B4-BE49-F238E27FC236}">
                <a16:creationId xmlns:a16="http://schemas.microsoft.com/office/drawing/2014/main" id="{4F325D37-F3D0-495E-912C-815038EC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1028700" cy="180975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0">
            <a:solidFill>
              <a:srgbClr val="F4F7FA"/>
            </a:solidFill>
            <a:prstDash val="solid"/>
          </a:ln>
        </p:spPr>
      </p:sp>
      <p:sp>
        <p:nvSpPr>
          <p:cNvPr id="86" name="label-storage">
            <a:extLst xmlns:a="http://schemas.openxmlformats.org/drawingml/2006/main">
              <a:ext uri="{FF2B5EF4-FFF2-40B4-BE49-F238E27FC236}">
                <a16:creationId xmlns:a16="http://schemas.microsoft.com/office/drawing/2014/main" id="{6046BE69-C811-4CF1-8998-173226CA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3876675"/>
            <a:ext cx="1028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1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defRPr>
            </a:pPr>
            <a:r>
              <a:rPr sz="1050" b="1">
                <a:solidFill>
                  <a:srgbClr val="7758B7"/>
                </a:solidFill>
                <a:latin typeface="IBM Plex Sans"/>
                <a:ea typeface="IBM Plex Sans"/>
                <a:cs typeface="IBM Plex Sans"/>
              </a:rPr>
              <a:t>reads and writes</a:t>
            </a:r>
          </a:p>
        </p:txBody>
      </p:sp>
    </p:spTree>
    <p:extLst>
      <p:ext uri="{BB962C8B-B14F-4D97-AF65-F5344CB8AC3E}">
        <p14:creationId xmlns:p14="http://schemas.microsoft.com/office/powerpoint/2010/main" val="810520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2026-09-07T06:40:35.6880000Z</dcterms:created>
  <dcterms:modified xsi:type="dcterms:W3CDTF">2026-09-07T06:40:35.6880000Z</dcterms:modified>
</coreProperties>
</file>